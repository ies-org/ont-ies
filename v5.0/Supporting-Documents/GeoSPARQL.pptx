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6_D11611EE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7_342431C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2"/>
  </p:notesMasterIdLst>
  <p:sldIdLst>
    <p:sldId id="261" r:id="rId6"/>
    <p:sldId id="262" r:id="rId7"/>
    <p:sldId id="264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FF24EC-3BED-A296-33B3-A2A2129DE387}" name="Matteo Benocci" initials="MB" userId="S::matteo.benocci_semanticpartners.com#ext#@dbis.onmicrosoft.com::d3082aa3-d224-4b3a-9732-6ee0eee370f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83E4D-55BD-84EC-407A-A6B568F5DE3C}" v="3" dt="2025-07-31T13:14:19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316" autoAdjust="0"/>
  </p:normalViewPr>
  <p:slideViewPr>
    <p:cSldViewPr snapToGrid="0" showGuides="1">
      <p:cViewPr varScale="1">
        <p:scale>
          <a:sx n="88" d="100"/>
          <a:sy n="88" d="100"/>
        </p:scale>
        <p:origin x="451" y="72"/>
      </p:cViewPr>
      <p:guideLst>
        <p:guide orient="horz" pos="100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Benocci" userId="S::matteo.benocci_semanticpartners.com#ext#@dbis.onmicrosoft.com::d3082aa3-d224-4b3a-9732-6ee0eee370fd" providerId="AD" clId="Web-{20C83E4D-55BD-84EC-407A-A6B568F5DE3C}"/>
    <pc:docChg chg="mod">
      <pc:chgData name="Matteo Benocci" userId="S::matteo.benocci_semanticpartners.com#ext#@dbis.onmicrosoft.com::d3082aa3-d224-4b3a-9732-6ee0eee370fd" providerId="AD" clId="Web-{20C83E4D-55BD-84EC-407A-A6B568F5DE3C}" dt="2025-07-31T12:36:30.420" v="0"/>
      <pc:docMkLst>
        <pc:docMk/>
      </pc:docMkLst>
    </pc:docChg>
  </pc:docChgLst>
</pc:chgInfo>
</file>

<file path=ppt/comments/modernComment_106_D11611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69F016-0B3D-4B76-A20F-14EAE608CAC2}" authorId="{07FF24EC-3BED-A296-33B3-A2A2129DE387}" created="2025-07-31T12:36:30.420">
    <pc:sldMkLst xmlns:pc="http://schemas.microsoft.com/office/powerpoint/2013/main/command">
      <pc:docMk/>
      <pc:sldMk cId="3507884526" sldId="262"/>
    </pc:sldMkLst>
    <p188:txBody>
      <a:bodyPr/>
      <a:lstStyle/>
      <a:p>
        <a:r>
          <a:rPr lang="en-GB"/>
          <a:t>Is the spatial resolution here supposed to be a property of an event - namely, a spatial approximation definition? I find that counter-intuitive, so some explanation would be useful.
That being said, you might simply avoid going into detail, because `:hasSpatialResolution` is not present in the Turtle file.</a:t>
        </a:r>
      </a:p>
    </p188:txBody>
  </p188:cm>
</p188:cmLst>
</file>

<file path=ppt/comments/modernComment_107_342431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5BABEE-3CF4-443A-A1CE-3B4304FFC4BC}" authorId="{07FF24EC-3BED-A296-33B3-A2A2129DE387}" created="2025-07-31T13:14:19.027">
    <pc:sldMkLst xmlns:pc="http://schemas.microsoft.com/office/powerpoint/2013/main/command">
      <pc:docMk/>
      <pc:sldMk cId="874787277" sldId="263"/>
    </pc:sldMkLst>
    <p188:txBody>
      <a:bodyPr/>
      <a:lstStyle/>
      <a:p>
        <a:r>
          <a:rPr lang="en-GB"/>
          <a:t>I haven't found the relations :hasDomainSpace and :hasRangeSpace in the ontology file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3CA25-0B49-44D5-A0AD-EBE6BCF6A9E3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8FA2D-98A5-4D33-8BC4-8A083A5322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23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8FA2D-98A5-4D33-8BC4-8A083A53227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26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8FA2D-98A5-4D33-8BC4-8A083A53227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76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8FA2D-98A5-4D33-8BC4-8A083A53227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98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A996-7E24-3917-9A40-A93CA3DBF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4C70F-DEBF-409A-0AE5-6EB233182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7CC96-4A44-5F4C-E8E6-83418ECC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9E687-38B0-7054-F9DE-7F22AD8F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3412F-B940-9E38-E5CD-3CD45DFC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82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2635-261F-6F78-B81D-D14FBEEE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33ED-B0A1-04D9-D358-80E842879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53974-9B56-875E-9C76-A70C9C9B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9A4F1-C2B5-8C94-3E4C-D0562C8A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94D06-410D-EDBD-4127-2EA4B332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16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6ABE-4BAC-8624-7A75-3489E2A6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552-9328-625C-6C5B-962ABAF16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9D5F9-7C93-577E-4521-8B8DBE94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2E558-DA4C-FB6D-0717-1FA08F08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06E66-CF48-7D38-7BEE-9DC0EF5C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75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E952-4998-7CA0-14F6-D576E551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7B88-FCBC-A91B-8E30-4EE79EA3B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C61E7-B3A0-402F-3225-669E37EA4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876BF-91E0-AC0C-40FA-4DF9E95B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2A1A2-CC05-6244-A2AC-CF8B5652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D2FBE-ED0F-CFF6-BF59-C494A45D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99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1586-4A94-74E0-BCD6-3BB8CBEAB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DD0B0-545B-51AE-A296-0A1C5070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CAFEB-4DC7-3E9F-7834-77F910A45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B9CA-FDBE-C32F-40FF-E321C010D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525A5-0B4A-58AE-1AA2-1238E13BB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9A9EC-675F-8F93-8003-338F8CC5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464909-5019-6C35-D1DF-95D4953D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D3CDB-4793-3BA7-C4B5-DFA9E221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91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E68B-B580-7555-E3FF-D31E8A05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C8C599-CA13-AA23-818E-0F73066A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72F76-FE53-6578-A19E-EAE4D8E7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7C932-5ABD-5B66-E781-AB870637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15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D2F6B-EA0C-5F40-CDB9-29E7C6A0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CB80E-1499-8B1D-8E3F-FCEC8ADA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C0B7B-5DA0-EC34-9401-E6D133D1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209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8D9D-DBA7-DE03-2A39-9696081E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4E2D5-D342-FFF6-B044-B8252CD27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B8D97-CE1A-B77A-9670-39753503C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A3184-A758-31C9-E01D-CDC2A092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4251-6674-4B14-08D9-FA603D48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6120C-5F1B-1688-A81A-C1C271F7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52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5D29-D579-A9A2-E912-510276CF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5F7BB-9A36-A6BF-AD99-05B73A506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9442F-0F27-DB74-49C9-EABD8DA0A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9635E-3010-0F19-E3E0-75BEDB5C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604E-4CA6-F4A6-AD78-1037A561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B2231-90BC-09F2-2BD1-2B563FE2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64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5DF2-644B-EC6E-3229-011008CB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C22EA-7125-02F9-DF67-E718C9F63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BF9B7-D2F1-02DB-6DC0-3AE93088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DDA1E-410E-2D85-3965-5C1DB2DC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E8AE-6885-8D70-E0FF-B1804AE0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17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61EBC-7130-62DE-2519-0020C6B85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4E40D-C98E-169A-4A11-21A41A2CB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2CB2-93CE-B388-1620-30AE824D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4118-F411-497E-7B0E-1AD9F429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E12A5-E260-8EF1-00FF-D2D6CBDF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33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12F6F-F156-C802-1F1B-ACDC0CF8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B903B-01F7-2173-3207-1469F0F9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2F3E7-0A10-F436-0DE2-7A1F51994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B4D89-13C1-4726-989D-33FFD1F951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726A-F6A6-7A16-0CE7-571438538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5D98A-6377-3639-CEFE-FD432288C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B6368-F763-45C0-B6ED-1DC051CBEF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36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D11611EE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342431C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9E7E-8B4B-D091-B9DB-794365CD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F66727-EDBD-C3BE-5E95-617C36A2C5C4}"/>
              </a:ext>
            </a:extLst>
          </p:cNvPr>
          <p:cNvSpPr/>
          <p:nvPr/>
        </p:nvSpPr>
        <p:spPr>
          <a:xfrm>
            <a:off x="2250708" y="1796228"/>
            <a:ext cx="1985434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Element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E536942-12B0-B22A-5734-83A6F17306FB}"/>
              </a:ext>
            </a:extLst>
          </p:cNvPr>
          <p:cNvSpPr/>
          <p:nvPr/>
        </p:nvSpPr>
        <p:spPr>
          <a:xfrm>
            <a:off x="3176319" y="2241584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B80186-A7AB-F541-1082-81D11CA540E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248784" y="2402956"/>
            <a:ext cx="0" cy="161372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A2DE79-FB73-B1FB-677A-D147D84699BB}"/>
              </a:ext>
            </a:extLst>
          </p:cNvPr>
          <p:cNvCxnSpPr>
            <a:cxnSpLocks/>
          </p:cNvCxnSpPr>
          <p:nvPr/>
        </p:nvCxnSpPr>
        <p:spPr>
          <a:xfrm flipH="1">
            <a:off x="1347847" y="2554600"/>
            <a:ext cx="4019086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524205-D1F9-A88C-0DE3-98329946163D}"/>
              </a:ext>
            </a:extLst>
          </p:cNvPr>
          <p:cNvSpPr/>
          <p:nvPr/>
        </p:nvSpPr>
        <p:spPr>
          <a:xfrm>
            <a:off x="554845" y="2758878"/>
            <a:ext cx="1586004" cy="61017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2D spatial element through time</a:t>
            </a:r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A7B1E4-195D-9D2E-35A5-841F9778E16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347847" y="2554600"/>
            <a:ext cx="0" cy="204278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AC75768-6A3F-2A2D-6552-6477D5510069}"/>
              </a:ext>
            </a:extLst>
          </p:cNvPr>
          <p:cNvGrpSpPr/>
          <p:nvPr/>
        </p:nvGrpSpPr>
        <p:grpSpPr>
          <a:xfrm>
            <a:off x="10120487" y="1347545"/>
            <a:ext cx="1558893" cy="1331645"/>
            <a:chOff x="10010662" y="424678"/>
            <a:chExt cx="1558893" cy="1331645"/>
          </a:xfrm>
        </p:grpSpPr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8C3E0B08-99A8-6273-363D-876EE0917350}"/>
                </a:ext>
              </a:extLst>
            </p:cNvPr>
            <p:cNvSpPr/>
            <p:nvPr/>
          </p:nvSpPr>
          <p:spPr>
            <a:xfrm>
              <a:off x="10010662" y="424678"/>
              <a:ext cx="1550424" cy="1331645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735A02-4626-D3A5-432B-D82885C2337C}"/>
                </a:ext>
              </a:extLst>
            </p:cNvPr>
            <p:cNvSpPr txBox="1"/>
            <p:nvPr/>
          </p:nvSpPr>
          <p:spPr>
            <a:xfrm>
              <a:off x="10019130" y="949089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isPartOf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4" name="Isosceles Triangle 93">
            <a:extLst>
              <a:ext uri="{FF2B5EF4-FFF2-40B4-BE49-F238E27FC236}">
                <a16:creationId xmlns:a16="http://schemas.microsoft.com/office/drawing/2014/main" id="{5759F576-55CC-5C79-7AAE-5983D8832CD3}"/>
              </a:ext>
            </a:extLst>
          </p:cNvPr>
          <p:cNvSpPr/>
          <p:nvPr/>
        </p:nvSpPr>
        <p:spPr>
          <a:xfrm>
            <a:off x="10831823" y="2700968"/>
            <a:ext cx="131755" cy="198876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19C1DA8-F65B-C570-A68E-C7B2BBFC458F}"/>
              </a:ext>
            </a:extLst>
          </p:cNvPr>
          <p:cNvCxnSpPr>
            <a:cxnSpLocks/>
            <a:stCxn id="94" idx="3"/>
            <a:endCxn id="74" idx="0"/>
          </p:cNvCxnSpPr>
          <p:nvPr/>
        </p:nvCxnSpPr>
        <p:spPr>
          <a:xfrm flipH="1">
            <a:off x="10895700" y="2899844"/>
            <a:ext cx="2001" cy="142239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B4786C-EBEF-42D8-91ED-991AA117C245}"/>
              </a:ext>
            </a:extLst>
          </p:cNvPr>
          <p:cNvCxnSpPr>
            <a:cxnSpLocks/>
          </p:cNvCxnSpPr>
          <p:nvPr/>
        </p:nvCxnSpPr>
        <p:spPr>
          <a:xfrm flipH="1">
            <a:off x="4236142" y="1871956"/>
            <a:ext cx="603997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CEBB68-1865-90C6-C57D-E641508A19F0}"/>
              </a:ext>
            </a:extLst>
          </p:cNvPr>
          <p:cNvCxnSpPr>
            <a:cxnSpLocks/>
          </p:cNvCxnSpPr>
          <p:nvPr/>
        </p:nvCxnSpPr>
        <p:spPr>
          <a:xfrm flipH="1">
            <a:off x="4236142" y="2163125"/>
            <a:ext cx="603997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CCC4FB7-FAFB-0DCC-E728-60888738E007}"/>
              </a:ext>
            </a:extLst>
          </p:cNvPr>
          <p:cNvSpPr txBox="1"/>
          <p:nvPr/>
        </p:nvSpPr>
        <p:spPr>
          <a:xfrm>
            <a:off x="8560384" y="1610346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4DC478-F02D-3634-CE81-9769B51A8D0A}"/>
              </a:ext>
            </a:extLst>
          </p:cNvPr>
          <p:cNvSpPr txBox="1"/>
          <p:nvPr/>
        </p:nvSpPr>
        <p:spPr>
          <a:xfrm>
            <a:off x="8613284" y="1901515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3FC0CA1-95AA-2781-8AD6-C70BCC957B0F}"/>
              </a:ext>
            </a:extLst>
          </p:cNvPr>
          <p:cNvSpPr/>
          <p:nvPr/>
        </p:nvSpPr>
        <p:spPr>
          <a:xfrm>
            <a:off x="4573931" y="2758878"/>
            <a:ext cx="1586004" cy="61017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1D spatial element through time</a:t>
            </a:r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BE8EEB-5E83-4818-C80F-415F420627A2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366933" y="2554600"/>
            <a:ext cx="0" cy="204278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6AAC51-F99F-86D6-F338-AC10CC8B2EEB}"/>
              </a:ext>
            </a:extLst>
          </p:cNvPr>
          <p:cNvGrpSpPr/>
          <p:nvPr/>
        </p:nvGrpSpPr>
        <p:grpSpPr>
          <a:xfrm>
            <a:off x="10120488" y="3042083"/>
            <a:ext cx="1558891" cy="1331645"/>
            <a:chOff x="10029831" y="329909"/>
            <a:chExt cx="1558891" cy="1331645"/>
          </a:xfrm>
        </p:grpSpPr>
        <p:sp>
          <p:nvSpPr>
            <p:cNvPr id="74" name="Diamond 73">
              <a:extLst>
                <a:ext uri="{FF2B5EF4-FFF2-40B4-BE49-F238E27FC236}">
                  <a16:creationId xmlns:a16="http://schemas.microsoft.com/office/drawing/2014/main" id="{D073C67E-966C-F82E-3B63-7B72115BE7F9}"/>
                </a:ext>
              </a:extLst>
            </p:cNvPr>
            <p:cNvSpPr/>
            <p:nvPr/>
          </p:nvSpPr>
          <p:spPr>
            <a:xfrm>
              <a:off x="10029831" y="329909"/>
              <a:ext cx="1550424" cy="1331645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9331CD9-C721-63E5-D5BA-AC883B82BA07}"/>
                </a:ext>
              </a:extLst>
            </p:cNvPr>
            <p:cNvSpPr txBox="1"/>
            <p:nvPr/>
          </p:nvSpPr>
          <p:spPr>
            <a:xfrm>
              <a:off x="10038297" y="866515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isBoundaryOf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A8A031E1-72F4-CDEF-DC43-6B9B5607E0F2}"/>
              </a:ext>
            </a:extLst>
          </p:cNvPr>
          <p:cNvSpPr/>
          <p:nvPr/>
        </p:nvSpPr>
        <p:spPr>
          <a:xfrm>
            <a:off x="10831125" y="4383233"/>
            <a:ext cx="131755" cy="198876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8D1B78E-8DF7-B7AC-477C-E96119286259}"/>
              </a:ext>
            </a:extLst>
          </p:cNvPr>
          <p:cNvCxnSpPr>
            <a:cxnSpLocks/>
            <a:stCxn id="77" idx="3"/>
            <a:endCxn id="80" idx="0"/>
          </p:cNvCxnSpPr>
          <p:nvPr/>
        </p:nvCxnSpPr>
        <p:spPr>
          <a:xfrm flipH="1">
            <a:off x="10895002" y="4582109"/>
            <a:ext cx="2001" cy="142239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C019498-429E-0E92-13B9-499D91060B03}"/>
              </a:ext>
            </a:extLst>
          </p:cNvPr>
          <p:cNvGrpSpPr/>
          <p:nvPr/>
        </p:nvGrpSpPr>
        <p:grpSpPr>
          <a:xfrm>
            <a:off x="10119790" y="4724348"/>
            <a:ext cx="1558891" cy="1331645"/>
            <a:chOff x="10029831" y="329909"/>
            <a:chExt cx="1558891" cy="1331645"/>
          </a:xfrm>
        </p:grpSpPr>
        <p:sp>
          <p:nvSpPr>
            <p:cNvPr id="80" name="Diamond 79">
              <a:extLst>
                <a:ext uri="{FF2B5EF4-FFF2-40B4-BE49-F238E27FC236}">
                  <a16:creationId xmlns:a16="http://schemas.microsoft.com/office/drawing/2014/main" id="{A7AE75F6-4379-31CE-122F-40B621C830C3}"/>
                </a:ext>
              </a:extLst>
            </p:cNvPr>
            <p:cNvSpPr/>
            <p:nvPr/>
          </p:nvSpPr>
          <p:spPr>
            <a:xfrm>
              <a:off x="10029831" y="329909"/>
              <a:ext cx="1550424" cy="1331645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ED29D7-B5FE-CD3A-86F3-746AD2F06928}"/>
                </a:ext>
              </a:extLst>
            </p:cNvPr>
            <p:cNvSpPr txBox="1"/>
            <p:nvPr/>
          </p:nvSpPr>
          <p:spPr>
            <a:xfrm>
              <a:off x="10038297" y="815713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isOuterBoundaryOf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051C15D-66DA-F15D-4688-8235AE8952EA}"/>
              </a:ext>
            </a:extLst>
          </p:cNvPr>
          <p:cNvSpPr/>
          <p:nvPr/>
        </p:nvSpPr>
        <p:spPr>
          <a:xfrm>
            <a:off x="554845" y="4905065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My Surface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BDCD8CF-2BCC-772C-B37E-9D62F80448C2}"/>
              </a:ext>
            </a:extLst>
          </p:cNvPr>
          <p:cNvCxnSpPr>
            <a:stCxn id="87" idx="0"/>
            <a:endCxn id="16" idx="2"/>
          </p:cNvCxnSpPr>
          <p:nvPr/>
        </p:nvCxnSpPr>
        <p:spPr>
          <a:xfrm flipV="1">
            <a:off x="1347847" y="3369051"/>
            <a:ext cx="0" cy="153601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B879216-78F6-5340-88BB-A1E8A86DAC03}"/>
              </a:ext>
            </a:extLst>
          </p:cNvPr>
          <p:cNvSpPr txBox="1"/>
          <p:nvPr/>
        </p:nvSpPr>
        <p:spPr>
          <a:xfrm>
            <a:off x="1356314" y="4443609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33058008-9588-2869-176A-FCD6DD78912E}"/>
              </a:ext>
            </a:extLst>
          </p:cNvPr>
          <p:cNvSpPr/>
          <p:nvPr/>
        </p:nvSpPr>
        <p:spPr>
          <a:xfrm>
            <a:off x="5294468" y="3396031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B160C36-3633-BC3E-2AD2-257EEC2B2093}"/>
              </a:ext>
            </a:extLst>
          </p:cNvPr>
          <p:cNvCxnSpPr>
            <a:cxnSpLocks/>
            <a:stCxn id="91" idx="3"/>
            <a:endCxn id="93" idx="0"/>
          </p:cNvCxnSpPr>
          <p:nvPr/>
        </p:nvCxnSpPr>
        <p:spPr>
          <a:xfrm>
            <a:off x="5366933" y="3557403"/>
            <a:ext cx="0" cy="126153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DEB5CC9-D92F-D067-A26D-16F5454789C7}"/>
              </a:ext>
            </a:extLst>
          </p:cNvPr>
          <p:cNvSpPr/>
          <p:nvPr/>
        </p:nvSpPr>
        <p:spPr>
          <a:xfrm>
            <a:off x="4573931" y="3683556"/>
            <a:ext cx="1586004" cy="61017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close curve through time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40772A3-C6A7-27E6-C499-7BEAE5F7E50E}"/>
              </a:ext>
            </a:extLst>
          </p:cNvPr>
          <p:cNvSpPr/>
          <p:nvPr/>
        </p:nvSpPr>
        <p:spPr>
          <a:xfrm>
            <a:off x="4573931" y="4908541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My Surface Perimeter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B2AB64C-1DB9-2EE5-261A-315D295C61C2}"/>
              </a:ext>
            </a:extLst>
          </p:cNvPr>
          <p:cNvCxnSpPr>
            <a:cxnSpLocks/>
            <a:stCxn id="102" idx="0"/>
            <a:endCxn id="93" idx="2"/>
          </p:cNvCxnSpPr>
          <p:nvPr/>
        </p:nvCxnSpPr>
        <p:spPr>
          <a:xfrm flipV="1">
            <a:off x="5366933" y="4293729"/>
            <a:ext cx="0" cy="61481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6DD55B8-E7D8-1AEE-3FA0-12E5B455579E}"/>
              </a:ext>
            </a:extLst>
          </p:cNvPr>
          <p:cNvSpPr txBox="1"/>
          <p:nvPr/>
        </p:nvSpPr>
        <p:spPr>
          <a:xfrm>
            <a:off x="5375400" y="444886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5B405E6-471A-62A2-455E-29A5613DCD0A}"/>
              </a:ext>
            </a:extLst>
          </p:cNvPr>
          <p:cNvCxnSpPr>
            <a:cxnSpLocks/>
            <a:stCxn id="102" idx="1"/>
            <a:endCxn id="87" idx="3"/>
          </p:cNvCxnSpPr>
          <p:nvPr/>
        </p:nvCxnSpPr>
        <p:spPr>
          <a:xfrm flipH="1" flipV="1">
            <a:off x="2140849" y="5210152"/>
            <a:ext cx="2433082" cy="34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AB8F9C7-76BA-5267-E317-77546CA50BD7}"/>
              </a:ext>
            </a:extLst>
          </p:cNvPr>
          <p:cNvSpPr txBox="1"/>
          <p:nvPr/>
        </p:nvSpPr>
        <p:spPr>
          <a:xfrm>
            <a:off x="2720123" y="4937309"/>
            <a:ext cx="1394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isOuterBoundaryOf</a:t>
            </a:r>
            <a:endParaRPr lang="en-GB" sz="1200" dirty="0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024C645D-DE87-CE32-2A37-06E0D5720E02}"/>
              </a:ext>
            </a:extLst>
          </p:cNvPr>
          <p:cNvSpPr/>
          <p:nvPr/>
        </p:nvSpPr>
        <p:spPr>
          <a:xfrm>
            <a:off x="7917071" y="4905064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25 </a:t>
            </a:r>
            <a:r>
              <a:rPr lang="en-US" sz="11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metre</a:t>
            </a:r>
            <a:endParaRPr lang="en-GB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4B850D4-EF8A-017B-0852-C4A91636CBBE}"/>
              </a:ext>
            </a:extLst>
          </p:cNvPr>
          <p:cNvCxnSpPr>
            <a:cxnSpLocks/>
            <a:stCxn id="102" idx="3"/>
            <a:endCxn id="111" idx="1"/>
          </p:cNvCxnSpPr>
          <p:nvPr/>
        </p:nvCxnSpPr>
        <p:spPr>
          <a:xfrm flipV="1">
            <a:off x="6159935" y="5210151"/>
            <a:ext cx="1757136" cy="34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416B043-8600-02BC-230D-BF181B170FB2}"/>
              </a:ext>
            </a:extLst>
          </p:cNvPr>
          <p:cNvSpPr txBox="1"/>
          <p:nvPr/>
        </p:nvSpPr>
        <p:spPr>
          <a:xfrm>
            <a:off x="6679183" y="4942015"/>
            <a:ext cx="821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hasLength</a:t>
            </a:r>
            <a:endParaRPr lang="en-GB" sz="1200" dirty="0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62EA7DB0-F6B8-4815-9BE9-D2AF6AED180C}"/>
              </a:ext>
            </a:extLst>
          </p:cNvPr>
          <p:cNvSpPr/>
          <p:nvPr/>
        </p:nvSpPr>
        <p:spPr>
          <a:xfrm>
            <a:off x="1715589" y="5512526"/>
            <a:ext cx="6627222" cy="557371"/>
          </a:xfrm>
          <a:custGeom>
            <a:avLst/>
            <a:gdLst>
              <a:gd name="connsiteX0" fmla="*/ 0 w 6627222"/>
              <a:gd name="connsiteY0" fmla="*/ 0 h 557371"/>
              <a:gd name="connsiteX1" fmla="*/ 3657600 w 6627222"/>
              <a:gd name="connsiteY1" fmla="*/ 557348 h 557371"/>
              <a:gd name="connsiteX2" fmla="*/ 6627222 w 6627222"/>
              <a:gd name="connsiteY2" fmla="*/ 17417 h 557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7222" h="557371">
                <a:moveTo>
                  <a:pt x="0" y="0"/>
                </a:moveTo>
                <a:cubicBezTo>
                  <a:pt x="1276531" y="277222"/>
                  <a:pt x="2553063" y="554445"/>
                  <a:pt x="3657600" y="557348"/>
                </a:cubicBezTo>
                <a:cubicBezTo>
                  <a:pt x="4762137" y="560251"/>
                  <a:pt x="5694679" y="288834"/>
                  <a:pt x="6627222" y="1741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1A9D768-D7EE-7782-36F5-53620DBDC0B5}"/>
              </a:ext>
            </a:extLst>
          </p:cNvPr>
          <p:cNvSpPr txBox="1"/>
          <p:nvPr/>
        </p:nvSpPr>
        <p:spPr>
          <a:xfrm>
            <a:off x="4645359" y="6072718"/>
            <a:ext cx="14431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hasPerimeterLength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02182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82894-35D7-A446-AE25-81582400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59CFC9-245E-0BE0-A032-2888859891A9}"/>
              </a:ext>
            </a:extLst>
          </p:cNvPr>
          <p:cNvSpPr/>
          <p:nvPr/>
        </p:nvSpPr>
        <p:spPr>
          <a:xfrm>
            <a:off x="2501162" y="973348"/>
            <a:ext cx="1985434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Element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F62BCC1-8029-6B68-B91A-0E307A721041}"/>
              </a:ext>
            </a:extLst>
          </p:cNvPr>
          <p:cNvSpPr/>
          <p:nvPr/>
        </p:nvSpPr>
        <p:spPr>
          <a:xfrm>
            <a:off x="3426773" y="1418704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9C6ECC-0514-5DE1-3433-0468F29C25A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9238" y="1580076"/>
            <a:ext cx="0" cy="161372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8E1E83-4791-2C11-B20A-5CA7B3504E39}"/>
              </a:ext>
            </a:extLst>
          </p:cNvPr>
          <p:cNvCxnSpPr>
            <a:cxnSpLocks/>
          </p:cNvCxnSpPr>
          <p:nvPr/>
        </p:nvCxnSpPr>
        <p:spPr>
          <a:xfrm flipH="1">
            <a:off x="3493879" y="1731720"/>
            <a:ext cx="2123508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E3E6A3-31A4-FBAF-6E56-8F2FFDB04EAA}"/>
              </a:ext>
            </a:extLst>
          </p:cNvPr>
          <p:cNvGrpSpPr/>
          <p:nvPr/>
        </p:nvGrpSpPr>
        <p:grpSpPr>
          <a:xfrm>
            <a:off x="9938857" y="518075"/>
            <a:ext cx="1558893" cy="1331645"/>
            <a:chOff x="10010662" y="424678"/>
            <a:chExt cx="1558893" cy="1331645"/>
          </a:xfrm>
        </p:grpSpPr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052107A8-5D46-3390-2C64-89875295FC2C}"/>
                </a:ext>
              </a:extLst>
            </p:cNvPr>
            <p:cNvSpPr/>
            <p:nvPr/>
          </p:nvSpPr>
          <p:spPr>
            <a:xfrm>
              <a:off x="10010662" y="424678"/>
              <a:ext cx="1550424" cy="1331645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78EBE0-A4D8-2223-51A6-80AFB12BED98}"/>
                </a:ext>
              </a:extLst>
            </p:cNvPr>
            <p:cNvSpPr txBox="1"/>
            <p:nvPr/>
          </p:nvSpPr>
          <p:spPr>
            <a:xfrm>
              <a:off x="10019130" y="949089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describes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A65A2A-A7B2-1F98-D7BF-726D6C60302F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6410389" y="2157574"/>
            <a:ext cx="430298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1FFC20-5845-B5C6-1548-78ACB67D72E6}"/>
              </a:ext>
            </a:extLst>
          </p:cNvPr>
          <p:cNvCxnSpPr>
            <a:cxnSpLocks/>
            <a:stCxn id="22" idx="1"/>
            <a:endCxn id="2" idx="3"/>
          </p:cNvCxnSpPr>
          <p:nvPr/>
        </p:nvCxnSpPr>
        <p:spPr>
          <a:xfrm flipH="1" flipV="1">
            <a:off x="4486596" y="1181786"/>
            <a:ext cx="5452261" cy="21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08C3549-4FBF-DB3F-F7F0-C0A6A2DD6B94}"/>
              </a:ext>
            </a:extLst>
          </p:cNvPr>
          <p:cNvSpPr txBox="1"/>
          <p:nvPr/>
        </p:nvSpPr>
        <p:spPr>
          <a:xfrm>
            <a:off x="1433595" y="1587175"/>
            <a:ext cx="12747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</a:t>
            </a:r>
            <a:r>
              <a:rPr lang="en-US" sz="1100" dirty="0" err="1"/>
              <a:t>isParticipationOf</a:t>
            </a:r>
            <a:r>
              <a:rPr lang="en-US" sz="1100" dirty="0"/>
              <a:t>&gt;</a:t>
            </a:r>
            <a:endParaRPr lang="en-GB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AF22E6-62E8-0E14-B55A-C97DFF0C01AD}"/>
              </a:ext>
            </a:extLst>
          </p:cNvPr>
          <p:cNvSpPr txBox="1"/>
          <p:nvPr/>
        </p:nvSpPr>
        <p:spPr>
          <a:xfrm>
            <a:off x="7060057" y="936576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79EF75B-992A-98D2-7C80-94CEE30C5797}"/>
              </a:ext>
            </a:extLst>
          </p:cNvPr>
          <p:cNvCxnSpPr>
            <a:cxnSpLocks/>
          </p:cNvCxnSpPr>
          <p:nvPr/>
        </p:nvCxnSpPr>
        <p:spPr>
          <a:xfrm>
            <a:off x="5617387" y="1731720"/>
            <a:ext cx="0" cy="204278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62570C1-0601-3D51-7FD1-82789DB7C5D6}"/>
              </a:ext>
            </a:extLst>
          </p:cNvPr>
          <p:cNvSpPr/>
          <p:nvPr/>
        </p:nvSpPr>
        <p:spPr>
          <a:xfrm>
            <a:off x="1259500" y="3936227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rgbClr val="CC99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rgbClr val="CC99FF"/>
                </a:solidFill>
              </a:rPr>
              <a:t> My Observed Feature</a:t>
            </a:r>
            <a:endParaRPr lang="en-GB" sz="1100" dirty="0">
              <a:solidFill>
                <a:srgbClr val="CC99FF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B612AB4-79CE-FADD-A83B-FB4ED6F1FCE9}"/>
              </a:ext>
            </a:extLst>
          </p:cNvPr>
          <p:cNvCxnSpPr>
            <a:cxnSpLocks/>
            <a:stCxn id="87" idx="0"/>
            <a:endCxn id="15" idx="2"/>
          </p:cNvCxnSpPr>
          <p:nvPr/>
        </p:nvCxnSpPr>
        <p:spPr>
          <a:xfrm flipV="1">
            <a:off x="2052502" y="2379149"/>
            <a:ext cx="0" cy="155707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5C6A8FC-A3EB-ED75-4835-1CB1456863DA}"/>
              </a:ext>
            </a:extLst>
          </p:cNvPr>
          <p:cNvSpPr txBox="1"/>
          <p:nvPr/>
        </p:nvSpPr>
        <p:spPr>
          <a:xfrm>
            <a:off x="2060969" y="347477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04342E-F24F-9362-96AE-44E8E0064A93}"/>
              </a:ext>
            </a:extLst>
          </p:cNvPr>
          <p:cNvSpPr/>
          <p:nvPr/>
        </p:nvSpPr>
        <p:spPr>
          <a:xfrm>
            <a:off x="4824385" y="1935999"/>
            <a:ext cx="1586004" cy="4431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Event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B11F94F-6414-5AD5-8463-A4D4E6ABF2D9}"/>
              </a:ext>
            </a:extLst>
          </p:cNvPr>
          <p:cNvSpPr/>
          <p:nvPr/>
        </p:nvSpPr>
        <p:spPr>
          <a:xfrm>
            <a:off x="5544922" y="2397178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162D44-F43D-7A3E-89D2-563E5B5CD74E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5617387" y="2558550"/>
            <a:ext cx="0" cy="144799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5DD292-F69B-75FF-6E33-0F75F48DE25A}"/>
              </a:ext>
            </a:extLst>
          </p:cNvPr>
          <p:cNvSpPr/>
          <p:nvPr/>
        </p:nvSpPr>
        <p:spPr>
          <a:xfrm>
            <a:off x="4691395" y="2703349"/>
            <a:ext cx="1851984" cy="4665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DefineSpatialApproximation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A0F12E-1A43-4964-73DD-D328716178BC}"/>
              </a:ext>
            </a:extLst>
          </p:cNvPr>
          <p:cNvSpPr/>
          <p:nvPr/>
        </p:nvSpPr>
        <p:spPr>
          <a:xfrm>
            <a:off x="1259500" y="1935999"/>
            <a:ext cx="1586004" cy="443150"/>
          </a:xfrm>
          <a:prstGeom prst="roundRect">
            <a:avLst/>
          </a:prstGeom>
          <a:solidFill>
            <a:srgbClr val="CC99FF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Observed</a:t>
            </a:r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D1C217-3E23-CB3B-4770-462AA7D59C09}"/>
              </a:ext>
            </a:extLst>
          </p:cNvPr>
          <p:cNvCxnSpPr>
            <a:cxnSpLocks/>
          </p:cNvCxnSpPr>
          <p:nvPr/>
        </p:nvCxnSpPr>
        <p:spPr>
          <a:xfrm flipV="1">
            <a:off x="2706237" y="1403317"/>
            <a:ext cx="0" cy="53268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E9FBBB1-6E3F-C381-32CD-A31D02536B77}"/>
              </a:ext>
            </a:extLst>
          </p:cNvPr>
          <p:cNvSpPr txBox="1"/>
          <p:nvPr/>
        </p:nvSpPr>
        <p:spPr>
          <a:xfrm>
            <a:off x="3217353" y="1894353"/>
            <a:ext cx="1141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</a:t>
            </a:r>
            <a:r>
              <a:rPr lang="en-US" sz="1100" dirty="0" err="1"/>
              <a:t>isParticipantIn</a:t>
            </a:r>
            <a:r>
              <a:rPr lang="en-US" sz="1100" dirty="0"/>
              <a:t>&gt;</a:t>
            </a:r>
            <a:endParaRPr lang="en-GB" sz="11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80B41C-6E8C-6AA3-EF5D-749F7D2D0A76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>
            <a:off x="2845504" y="2157574"/>
            <a:ext cx="1978881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B378846-2730-619E-C593-0294D22054ED}"/>
              </a:ext>
            </a:extLst>
          </p:cNvPr>
          <p:cNvSpPr txBox="1"/>
          <p:nvPr/>
        </p:nvSpPr>
        <p:spPr>
          <a:xfrm>
            <a:off x="7007159" y="1900991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5A3E1D-EE4C-CFDB-E8A9-34C2D1F7CA00}"/>
              </a:ext>
            </a:extLst>
          </p:cNvPr>
          <p:cNvCxnSpPr>
            <a:cxnSpLocks/>
          </p:cNvCxnSpPr>
          <p:nvPr/>
        </p:nvCxnSpPr>
        <p:spPr>
          <a:xfrm>
            <a:off x="10713372" y="1848785"/>
            <a:ext cx="0" cy="3138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F47551B-1C6D-8748-8241-D2502B4166FD}"/>
              </a:ext>
            </a:extLst>
          </p:cNvPr>
          <p:cNvSpPr/>
          <p:nvPr/>
        </p:nvSpPr>
        <p:spPr>
          <a:xfrm>
            <a:off x="4691395" y="3936227"/>
            <a:ext cx="185198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My spatial approximation definition</a:t>
            </a:r>
            <a:endParaRPr lang="en-GB" sz="11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737F39-4FE9-9934-9FA7-E7BD279A308B}"/>
              </a:ext>
            </a:extLst>
          </p:cNvPr>
          <p:cNvCxnSpPr>
            <a:cxnSpLocks/>
            <a:stCxn id="48" idx="0"/>
            <a:endCxn id="11" idx="2"/>
          </p:cNvCxnSpPr>
          <p:nvPr/>
        </p:nvCxnSpPr>
        <p:spPr>
          <a:xfrm flipV="1">
            <a:off x="5617387" y="3169883"/>
            <a:ext cx="0" cy="76634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F8C13E2-1FCF-F701-93D7-E79DB746408C}"/>
              </a:ext>
            </a:extLst>
          </p:cNvPr>
          <p:cNvSpPr txBox="1"/>
          <p:nvPr/>
        </p:nvSpPr>
        <p:spPr>
          <a:xfrm>
            <a:off x="5617387" y="3469693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1099E7-1A9E-1662-B69F-A9FC30A346C8}"/>
              </a:ext>
            </a:extLst>
          </p:cNvPr>
          <p:cNvSpPr txBox="1"/>
          <p:nvPr/>
        </p:nvSpPr>
        <p:spPr>
          <a:xfrm>
            <a:off x="3268152" y="3995026"/>
            <a:ext cx="10005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isParticipantIn</a:t>
            </a:r>
            <a:endParaRPr lang="en-GB" sz="11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A938250-3752-6462-F00E-7A934930A72A}"/>
              </a:ext>
            </a:extLst>
          </p:cNvPr>
          <p:cNvCxnSpPr>
            <a:cxnSpLocks/>
            <a:stCxn id="87" idx="3"/>
            <a:endCxn id="48" idx="1"/>
          </p:cNvCxnSpPr>
          <p:nvPr/>
        </p:nvCxnSpPr>
        <p:spPr>
          <a:xfrm>
            <a:off x="2845504" y="4241314"/>
            <a:ext cx="184589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A666129-5509-E34B-2DEF-261DEEB15031}"/>
              </a:ext>
            </a:extLst>
          </p:cNvPr>
          <p:cNvSpPr txBox="1"/>
          <p:nvPr/>
        </p:nvSpPr>
        <p:spPr>
          <a:xfrm>
            <a:off x="7096354" y="3979704"/>
            <a:ext cx="7232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describes</a:t>
            </a:r>
            <a:endParaRPr lang="en-GB" sz="11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A72F32-9FF3-6143-176D-93FF4A6BC130}"/>
              </a:ext>
            </a:extLst>
          </p:cNvPr>
          <p:cNvCxnSpPr>
            <a:cxnSpLocks/>
            <a:stCxn id="48" idx="3"/>
            <a:endCxn id="64" idx="1"/>
          </p:cNvCxnSpPr>
          <p:nvPr/>
        </p:nvCxnSpPr>
        <p:spPr>
          <a:xfrm>
            <a:off x="6543379" y="4241314"/>
            <a:ext cx="184589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AF59E87-B8BD-3639-7EFB-EF06178C39FD}"/>
              </a:ext>
            </a:extLst>
          </p:cNvPr>
          <p:cNvSpPr/>
          <p:nvPr/>
        </p:nvSpPr>
        <p:spPr>
          <a:xfrm>
            <a:off x="8389270" y="3936227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 My feature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approximation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FF35EFD-54BF-B3A7-61BA-BE6DBC0F48A3}"/>
              </a:ext>
            </a:extLst>
          </p:cNvPr>
          <p:cNvSpPr/>
          <p:nvPr/>
        </p:nvSpPr>
        <p:spPr>
          <a:xfrm>
            <a:off x="4824385" y="5717865"/>
            <a:ext cx="1586004" cy="420467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1 </a:t>
            </a:r>
            <a:r>
              <a:rPr lang="en-US" sz="11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metre</a:t>
            </a:r>
            <a:endParaRPr lang="en-GB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ECD920C-D49A-152F-C29A-7914B224F4B2}"/>
              </a:ext>
            </a:extLst>
          </p:cNvPr>
          <p:cNvCxnSpPr>
            <a:cxnSpLocks/>
          </p:cNvCxnSpPr>
          <p:nvPr/>
        </p:nvCxnSpPr>
        <p:spPr>
          <a:xfrm flipV="1">
            <a:off x="4186102" y="1390224"/>
            <a:ext cx="0" cy="18985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2A45E1E-042F-8821-8EA4-EFD7BF5F9A65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9182272" y="1587175"/>
            <a:ext cx="0" cy="23490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8E918E0-A6B3-032A-26D6-752EC45DA7F9}"/>
              </a:ext>
            </a:extLst>
          </p:cNvPr>
          <p:cNvSpPr txBox="1"/>
          <p:nvPr/>
        </p:nvSpPr>
        <p:spPr>
          <a:xfrm>
            <a:off x="9190739" y="347477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6720F8C-B725-AB7F-024D-86B05DA95BC5}"/>
              </a:ext>
            </a:extLst>
          </p:cNvPr>
          <p:cNvCxnSpPr>
            <a:cxnSpLocks/>
          </p:cNvCxnSpPr>
          <p:nvPr/>
        </p:nvCxnSpPr>
        <p:spPr>
          <a:xfrm>
            <a:off x="4186102" y="1575542"/>
            <a:ext cx="5004637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AFD295-EABD-C887-FAF9-E966FD894CAF}"/>
              </a:ext>
            </a:extLst>
          </p:cNvPr>
          <p:cNvSpPr txBox="1"/>
          <p:nvPr/>
        </p:nvSpPr>
        <p:spPr>
          <a:xfrm>
            <a:off x="5617387" y="4976887"/>
            <a:ext cx="1370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hasSpatialResolution</a:t>
            </a:r>
            <a:endParaRPr lang="en-GB" sz="110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1D7C452-4A50-0E6C-E266-2F6C470E00D9}"/>
              </a:ext>
            </a:extLst>
          </p:cNvPr>
          <p:cNvCxnSpPr>
            <a:cxnSpLocks/>
            <a:stCxn id="48" idx="2"/>
            <a:endCxn id="66" idx="0"/>
          </p:cNvCxnSpPr>
          <p:nvPr/>
        </p:nvCxnSpPr>
        <p:spPr>
          <a:xfrm>
            <a:off x="5617387" y="4546400"/>
            <a:ext cx="0" cy="117146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8845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D63C0-4217-4154-00E8-72C89266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B1430B-A5E0-EDB5-9E5C-B05D30ED1D10}"/>
              </a:ext>
            </a:extLst>
          </p:cNvPr>
          <p:cNvSpPr/>
          <p:nvPr/>
        </p:nvSpPr>
        <p:spPr>
          <a:xfrm>
            <a:off x="2501162" y="973348"/>
            <a:ext cx="1985434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Element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8BEEDB8-9AA0-857A-04D5-BA09B5BB61E9}"/>
              </a:ext>
            </a:extLst>
          </p:cNvPr>
          <p:cNvSpPr/>
          <p:nvPr/>
        </p:nvSpPr>
        <p:spPr>
          <a:xfrm>
            <a:off x="3426773" y="1418704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999535-51CD-30CB-FF9D-7029B004475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9238" y="1580076"/>
            <a:ext cx="0" cy="161372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2BFF44-57F5-62D1-367B-B79F7F65F02B}"/>
              </a:ext>
            </a:extLst>
          </p:cNvPr>
          <p:cNvCxnSpPr>
            <a:cxnSpLocks/>
          </p:cNvCxnSpPr>
          <p:nvPr/>
        </p:nvCxnSpPr>
        <p:spPr>
          <a:xfrm flipH="1">
            <a:off x="3493879" y="1731720"/>
            <a:ext cx="2123508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3229AB-56CB-60F1-762B-B92052386D43}"/>
              </a:ext>
            </a:extLst>
          </p:cNvPr>
          <p:cNvGrpSpPr/>
          <p:nvPr/>
        </p:nvGrpSpPr>
        <p:grpSpPr>
          <a:xfrm>
            <a:off x="9938857" y="518075"/>
            <a:ext cx="1558893" cy="1331645"/>
            <a:chOff x="10010662" y="424678"/>
            <a:chExt cx="1558893" cy="1331645"/>
          </a:xfrm>
        </p:grpSpPr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7EC89EED-6F11-9C7D-026F-C3D5E2A9F069}"/>
                </a:ext>
              </a:extLst>
            </p:cNvPr>
            <p:cNvSpPr/>
            <p:nvPr/>
          </p:nvSpPr>
          <p:spPr>
            <a:xfrm>
              <a:off x="10010662" y="424678"/>
              <a:ext cx="1550424" cy="1331645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44D596-8700-D372-68AC-2222BE70D505}"/>
                </a:ext>
              </a:extLst>
            </p:cNvPr>
            <p:cNvSpPr txBox="1"/>
            <p:nvPr/>
          </p:nvSpPr>
          <p:spPr>
            <a:xfrm>
              <a:off x="10019130" y="915221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accuracyReference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492311-0A9A-A326-6BDC-A51A121C0F52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6543379" y="2936616"/>
            <a:ext cx="416999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694DAC-F2CD-4469-8BD4-CD0F9FEFF400}"/>
              </a:ext>
            </a:extLst>
          </p:cNvPr>
          <p:cNvCxnSpPr>
            <a:cxnSpLocks/>
            <a:stCxn id="22" idx="1"/>
            <a:endCxn id="2" idx="3"/>
          </p:cNvCxnSpPr>
          <p:nvPr/>
        </p:nvCxnSpPr>
        <p:spPr>
          <a:xfrm flipH="1" flipV="1">
            <a:off x="4486596" y="1181786"/>
            <a:ext cx="5452261" cy="21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2C3F49-A4E0-71F9-6AD6-3C43D7769759}"/>
              </a:ext>
            </a:extLst>
          </p:cNvPr>
          <p:cNvSpPr txBox="1"/>
          <p:nvPr/>
        </p:nvSpPr>
        <p:spPr>
          <a:xfrm>
            <a:off x="1433595" y="1587175"/>
            <a:ext cx="12747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</a:t>
            </a:r>
            <a:r>
              <a:rPr lang="en-US" sz="1100" dirty="0" err="1"/>
              <a:t>isParticipationOf</a:t>
            </a:r>
            <a:r>
              <a:rPr lang="en-US" sz="1100" dirty="0"/>
              <a:t>&gt;</a:t>
            </a:r>
            <a:endParaRPr lang="en-GB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ECCCF-E3A0-F8AA-8FD9-A5BC87196B94}"/>
              </a:ext>
            </a:extLst>
          </p:cNvPr>
          <p:cNvSpPr txBox="1"/>
          <p:nvPr/>
        </p:nvSpPr>
        <p:spPr>
          <a:xfrm>
            <a:off x="7060057" y="936576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EF6E60F-20B6-E767-15D7-C06A4F651C58}"/>
              </a:ext>
            </a:extLst>
          </p:cNvPr>
          <p:cNvCxnSpPr>
            <a:cxnSpLocks/>
          </p:cNvCxnSpPr>
          <p:nvPr/>
        </p:nvCxnSpPr>
        <p:spPr>
          <a:xfrm>
            <a:off x="5617387" y="1731720"/>
            <a:ext cx="0" cy="204278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8B62681-7722-3A2A-50EE-39A59170AFCC}"/>
              </a:ext>
            </a:extLst>
          </p:cNvPr>
          <p:cNvSpPr/>
          <p:nvPr/>
        </p:nvSpPr>
        <p:spPr>
          <a:xfrm>
            <a:off x="1259500" y="3936227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rgbClr val="CC99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rgbClr val="CC99FF"/>
                </a:solidFill>
              </a:rPr>
              <a:t> My Observed Feature</a:t>
            </a:r>
            <a:endParaRPr lang="en-GB" sz="1100" dirty="0">
              <a:solidFill>
                <a:srgbClr val="CC99FF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7E87CC-FDD6-AD1D-9AAA-E6B103837AC2}"/>
              </a:ext>
            </a:extLst>
          </p:cNvPr>
          <p:cNvCxnSpPr>
            <a:cxnSpLocks/>
            <a:stCxn id="87" idx="0"/>
            <a:endCxn id="15" idx="2"/>
          </p:cNvCxnSpPr>
          <p:nvPr/>
        </p:nvCxnSpPr>
        <p:spPr>
          <a:xfrm flipV="1">
            <a:off x="2052502" y="2379149"/>
            <a:ext cx="0" cy="155707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7FE1668-207D-8CC1-2163-8547C9144FA7}"/>
              </a:ext>
            </a:extLst>
          </p:cNvPr>
          <p:cNvSpPr txBox="1"/>
          <p:nvPr/>
        </p:nvSpPr>
        <p:spPr>
          <a:xfrm>
            <a:off x="2060969" y="347477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F182BA-2A3C-6D17-80D6-B5A5FBBA7D30}"/>
              </a:ext>
            </a:extLst>
          </p:cNvPr>
          <p:cNvSpPr/>
          <p:nvPr/>
        </p:nvSpPr>
        <p:spPr>
          <a:xfrm>
            <a:off x="4824385" y="1935999"/>
            <a:ext cx="1586004" cy="4431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Event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240DF67-4E6F-22CC-599C-AD8DF54B4257}"/>
              </a:ext>
            </a:extLst>
          </p:cNvPr>
          <p:cNvSpPr/>
          <p:nvPr/>
        </p:nvSpPr>
        <p:spPr>
          <a:xfrm>
            <a:off x="5544922" y="2397178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98CE75-9113-0BBD-7270-EDCF112720B0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5617387" y="2558550"/>
            <a:ext cx="0" cy="144799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CBD1B1-F659-3F94-9A71-78836275DBA7}"/>
              </a:ext>
            </a:extLst>
          </p:cNvPr>
          <p:cNvSpPr/>
          <p:nvPr/>
        </p:nvSpPr>
        <p:spPr>
          <a:xfrm>
            <a:off x="4691395" y="2703349"/>
            <a:ext cx="1851984" cy="4665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AssessSpatialAccuracy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CDF561-1B41-D3B6-6E93-FE2F2E0740B5}"/>
              </a:ext>
            </a:extLst>
          </p:cNvPr>
          <p:cNvSpPr/>
          <p:nvPr/>
        </p:nvSpPr>
        <p:spPr>
          <a:xfrm>
            <a:off x="1259500" y="1935999"/>
            <a:ext cx="1586004" cy="443150"/>
          </a:xfrm>
          <a:prstGeom prst="roundRect">
            <a:avLst/>
          </a:prstGeom>
          <a:solidFill>
            <a:srgbClr val="CC99FF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Observed</a:t>
            </a:r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8855CA-2F67-D047-4D0E-C225B8BB5CC7}"/>
              </a:ext>
            </a:extLst>
          </p:cNvPr>
          <p:cNvCxnSpPr>
            <a:cxnSpLocks/>
          </p:cNvCxnSpPr>
          <p:nvPr/>
        </p:nvCxnSpPr>
        <p:spPr>
          <a:xfrm flipV="1">
            <a:off x="2706237" y="1403317"/>
            <a:ext cx="0" cy="53268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4DAC82F-70F3-583E-C7AC-69809A4B4CD7}"/>
              </a:ext>
            </a:extLst>
          </p:cNvPr>
          <p:cNvSpPr txBox="1"/>
          <p:nvPr/>
        </p:nvSpPr>
        <p:spPr>
          <a:xfrm>
            <a:off x="3217353" y="1894353"/>
            <a:ext cx="1141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</a:t>
            </a:r>
            <a:r>
              <a:rPr lang="en-US" sz="1100" dirty="0" err="1"/>
              <a:t>isParticipantIn</a:t>
            </a:r>
            <a:r>
              <a:rPr lang="en-US" sz="1100" dirty="0"/>
              <a:t>&gt;</a:t>
            </a:r>
            <a:endParaRPr lang="en-GB" sz="11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F29235-C6AE-2FFF-C078-ED4B301FBC58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>
            <a:off x="2845504" y="2157574"/>
            <a:ext cx="1978881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1EB0558-E55E-AB8C-FA15-17BFD9B07633}"/>
              </a:ext>
            </a:extLst>
          </p:cNvPr>
          <p:cNvSpPr txBox="1"/>
          <p:nvPr/>
        </p:nvSpPr>
        <p:spPr>
          <a:xfrm>
            <a:off x="7007159" y="2671460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FCE277-023B-99C3-F94C-242CFD142C6B}"/>
              </a:ext>
            </a:extLst>
          </p:cNvPr>
          <p:cNvCxnSpPr>
            <a:cxnSpLocks/>
          </p:cNvCxnSpPr>
          <p:nvPr/>
        </p:nvCxnSpPr>
        <p:spPr>
          <a:xfrm>
            <a:off x="10713372" y="1848785"/>
            <a:ext cx="0" cy="108428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34C7E43-1288-9011-1862-65694CA6612D}"/>
              </a:ext>
            </a:extLst>
          </p:cNvPr>
          <p:cNvSpPr/>
          <p:nvPr/>
        </p:nvSpPr>
        <p:spPr>
          <a:xfrm>
            <a:off x="4691395" y="3936227"/>
            <a:ext cx="185198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My spatial accuracy assessment</a:t>
            </a:r>
            <a:endParaRPr lang="en-GB" sz="11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124D7E6-0EEE-0B45-BB25-54AC2623BC4E}"/>
              </a:ext>
            </a:extLst>
          </p:cNvPr>
          <p:cNvCxnSpPr>
            <a:cxnSpLocks/>
            <a:stCxn id="48" idx="0"/>
            <a:endCxn id="11" idx="2"/>
          </p:cNvCxnSpPr>
          <p:nvPr/>
        </p:nvCxnSpPr>
        <p:spPr>
          <a:xfrm flipV="1">
            <a:off x="5617387" y="3169883"/>
            <a:ext cx="0" cy="76634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E94AB00-0C70-53E4-EB14-055D8E304E2E}"/>
              </a:ext>
            </a:extLst>
          </p:cNvPr>
          <p:cNvSpPr txBox="1"/>
          <p:nvPr/>
        </p:nvSpPr>
        <p:spPr>
          <a:xfrm>
            <a:off x="5617387" y="3469693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0E3428-3441-88DC-0C6E-3C4A4F88A5ED}"/>
              </a:ext>
            </a:extLst>
          </p:cNvPr>
          <p:cNvSpPr txBox="1"/>
          <p:nvPr/>
        </p:nvSpPr>
        <p:spPr>
          <a:xfrm>
            <a:off x="3268152" y="3995026"/>
            <a:ext cx="10005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isParticipantIn</a:t>
            </a:r>
            <a:endParaRPr lang="en-GB" sz="11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DC09DBD-4F66-CA8C-AEDA-BD6558CF1BD0}"/>
              </a:ext>
            </a:extLst>
          </p:cNvPr>
          <p:cNvCxnSpPr>
            <a:cxnSpLocks/>
            <a:stCxn id="87" idx="3"/>
            <a:endCxn id="48" idx="1"/>
          </p:cNvCxnSpPr>
          <p:nvPr/>
        </p:nvCxnSpPr>
        <p:spPr>
          <a:xfrm>
            <a:off x="2845504" y="4241314"/>
            <a:ext cx="184589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496819F-4173-8F4F-49FC-C4372DE30D1A}"/>
              </a:ext>
            </a:extLst>
          </p:cNvPr>
          <p:cNvSpPr txBox="1"/>
          <p:nvPr/>
        </p:nvSpPr>
        <p:spPr>
          <a:xfrm>
            <a:off x="6890781" y="3979704"/>
            <a:ext cx="1269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accuracyReference</a:t>
            </a:r>
            <a:endParaRPr lang="en-GB" sz="11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45EC7BF-6DE8-57DB-AFAA-5B544AAE82AE}"/>
              </a:ext>
            </a:extLst>
          </p:cNvPr>
          <p:cNvCxnSpPr>
            <a:cxnSpLocks/>
            <a:stCxn id="48" idx="3"/>
            <a:endCxn id="64" idx="1"/>
          </p:cNvCxnSpPr>
          <p:nvPr/>
        </p:nvCxnSpPr>
        <p:spPr>
          <a:xfrm>
            <a:off x="6543379" y="4241314"/>
            <a:ext cx="1845891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5732FED-D932-D41F-69F3-7CFF7F4EE444}"/>
              </a:ext>
            </a:extLst>
          </p:cNvPr>
          <p:cNvSpPr/>
          <p:nvPr/>
        </p:nvSpPr>
        <p:spPr>
          <a:xfrm>
            <a:off x="8389270" y="3936227"/>
            <a:ext cx="1586004" cy="610173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>
                <a:solidFill>
                  <a:schemeClr val="bg1">
                    <a:lumMod val="85000"/>
                  </a:schemeClr>
                </a:solidFill>
              </a:rPr>
              <a:t> My feature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approximation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5C119B2-7153-0A74-684E-28260D253BDA}"/>
              </a:ext>
            </a:extLst>
          </p:cNvPr>
          <p:cNvSpPr/>
          <p:nvPr/>
        </p:nvSpPr>
        <p:spPr>
          <a:xfrm>
            <a:off x="4824385" y="5717865"/>
            <a:ext cx="1586004" cy="420467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1 </a:t>
            </a:r>
            <a:r>
              <a:rPr lang="en-US" sz="11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metre</a:t>
            </a:r>
            <a:endParaRPr lang="en-GB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90FA0E5-F631-9D0A-9E21-E175926DDFFB}"/>
              </a:ext>
            </a:extLst>
          </p:cNvPr>
          <p:cNvCxnSpPr>
            <a:cxnSpLocks/>
          </p:cNvCxnSpPr>
          <p:nvPr/>
        </p:nvCxnSpPr>
        <p:spPr>
          <a:xfrm flipV="1">
            <a:off x="4186102" y="1390224"/>
            <a:ext cx="0" cy="18985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BC462FC-C3A0-731E-9F87-CA11F3A84514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9182272" y="1587175"/>
            <a:ext cx="0" cy="23490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EEEAC36-7C5D-A1D1-C5CD-C794ED1991DF}"/>
              </a:ext>
            </a:extLst>
          </p:cNvPr>
          <p:cNvSpPr txBox="1"/>
          <p:nvPr/>
        </p:nvSpPr>
        <p:spPr>
          <a:xfrm>
            <a:off x="9190739" y="347477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8864899-2DCF-AABE-79DF-6DED12407B9B}"/>
              </a:ext>
            </a:extLst>
          </p:cNvPr>
          <p:cNvCxnSpPr>
            <a:cxnSpLocks/>
          </p:cNvCxnSpPr>
          <p:nvPr/>
        </p:nvCxnSpPr>
        <p:spPr>
          <a:xfrm>
            <a:off x="4186102" y="1575542"/>
            <a:ext cx="5004637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F7AAF5D-491F-3507-DC45-F2F8D0D08E91}"/>
              </a:ext>
            </a:extLst>
          </p:cNvPr>
          <p:cNvSpPr txBox="1"/>
          <p:nvPr/>
        </p:nvSpPr>
        <p:spPr>
          <a:xfrm>
            <a:off x="5663875" y="4976887"/>
            <a:ext cx="12779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hasSpatialAccuracy</a:t>
            </a:r>
            <a:endParaRPr lang="en-GB" sz="110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A7CBEF9-7CDD-BC4D-9586-799C6E1EFE91}"/>
              </a:ext>
            </a:extLst>
          </p:cNvPr>
          <p:cNvCxnSpPr>
            <a:cxnSpLocks/>
            <a:stCxn id="48" idx="2"/>
            <a:endCxn id="66" idx="0"/>
          </p:cNvCxnSpPr>
          <p:nvPr/>
        </p:nvCxnSpPr>
        <p:spPr>
          <a:xfrm>
            <a:off x="5617387" y="4546400"/>
            <a:ext cx="0" cy="117146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21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1091F1-890A-527A-0E75-4C9037C08CB6}"/>
              </a:ext>
            </a:extLst>
          </p:cNvPr>
          <p:cNvSpPr/>
          <p:nvPr/>
        </p:nvSpPr>
        <p:spPr>
          <a:xfrm>
            <a:off x="886032" y="1289992"/>
            <a:ext cx="1696298" cy="43127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geo:Geometry</a:t>
            </a:r>
            <a:endParaRPr lang="en-GB" sz="14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3713DA-BE21-3926-C91D-155766A8AC5B}"/>
              </a:ext>
            </a:extLst>
          </p:cNvPr>
          <p:cNvGrpSpPr/>
          <p:nvPr/>
        </p:nvGrpSpPr>
        <p:grpSpPr>
          <a:xfrm>
            <a:off x="7394799" y="839805"/>
            <a:ext cx="1696298" cy="1331645"/>
            <a:chOff x="9929259" y="424678"/>
            <a:chExt cx="1696298" cy="1331645"/>
          </a:xfrm>
          <a:solidFill>
            <a:srgbClr val="FFFF00"/>
          </a:solidFill>
        </p:grpSpPr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10E2E5F4-11D7-6FD6-DFDA-2F59A470AE01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BBDC96-C628-89F4-69D0-73019CA4D87E}"/>
                </a:ext>
              </a:extLst>
            </p:cNvPr>
            <p:cNvSpPr txBox="1"/>
            <p:nvPr/>
          </p:nvSpPr>
          <p:spPr>
            <a:xfrm>
              <a:off x="9929259" y="932513"/>
              <a:ext cx="16962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owlDatatypeProperty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asWKT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52A2C4-814D-58C1-B67D-C3814B1E88AD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>
          <a:xfrm flipH="1" flipV="1">
            <a:off x="2582330" y="1505627"/>
            <a:ext cx="488540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09E33B7-AA4C-1FCF-A144-C33387F6834E}"/>
              </a:ext>
            </a:extLst>
          </p:cNvPr>
          <p:cNvSpPr txBox="1"/>
          <p:nvPr/>
        </p:nvSpPr>
        <p:spPr>
          <a:xfrm>
            <a:off x="4900656" y="1244017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CAD957-909B-EC0E-782C-CFB4EFA666D7}"/>
              </a:ext>
            </a:extLst>
          </p:cNvPr>
          <p:cNvSpPr/>
          <p:nvPr/>
        </p:nvSpPr>
        <p:spPr>
          <a:xfrm>
            <a:off x="886032" y="2633664"/>
            <a:ext cx="1696298" cy="431270"/>
          </a:xfrm>
          <a:prstGeom prst="round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FFFF00"/>
                </a:solidFill>
              </a:rPr>
              <a:t>my:AExactGeom</a:t>
            </a:r>
            <a:r>
              <a:rPr lang="en-US" sz="1400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3C6E20-16A9-C183-D609-E247515123D8}"/>
              </a:ext>
            </a:extLst>
          </p:cNvPr>
          <p:cNvCxnSpPr>
            <a:cxnSpLocks/>
            <a:stCxn id="12" idx="0"/>
            <a:endCxn id="3" idx="2"/>
          </p:cNvCxnSpPr>
          <p:nvPr/>
        </p:nvCxnSpPr>
        <p:spPr>
          <a:xfrm flipV="1">
            <a:off x="1734181" y="1721262"/>
            <a:ext cx="0" cy="91240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F4D307-6B2F-6420-E63B-816029E1F99E}"/>
              </a:ext>
            </a:extLst>
          </p:cNvPr>
          <p:cNvSpPr txBox="1"/>
          <p:nvPr/>
        </p:nvSpPr>
        <p:spPr>
          <a:xfrm>
            <a:off x="1734181" y="2038964"/>
            <a:ext cx="46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7A553-9085-B3DE-8D7B-1C9A1CD3A043}"/>
              </a:ext>
            </a:extLst>
          </p:cNvPr>
          <p:cNvSpPr txBox="1"/>
          <p:nvPr/>
        </p:nvSpPr>
        <p:spPr>
          <a:xfrm>
            <a:off x="4910667" y="2618465"/>
            <a:ext cx="6649302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”&lt;http://www.opengis.net/def/crs/OGC/1.3/CRS84&gt;</a:t>
            </a:r>
          </a:p>
          <a:p>
            <a:r>
              <a:rPr lang="sv-SE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Polygon((-83.6 34.1, -83.2 34.1, -83.2 34.5, -83.6 34.5, -83.6 34.1))”</a:t>
            </a:r>
            <a:endParaRPr lang="en-GB" sz="12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83820E-9D66-1A38-B1FC-2F310E2A6D0F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 flipV="1">
            <a:off x="2582330" y="2849298"/>
            <a:ext cx="2328337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811FA4B-5022-B551-68E2-30686276D57F}"/>
              </a:ext>
            </a:extLst>
          </p:cNvPr>
          <p:cNvSpPr txBox="1"/>
          <p:nvPr/>
        </p:nvSpPr>
        <p:spPr>
          <a:xfrm>
            <a:off x="3258968" y="2587688"/>
            <a:ext cx="8226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geo:asWKT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55747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0C1458-3C52-6CA8-BF0C-B85F428EC2F6}"/>
              </a:ext>
            </a:extLst>
          </p:cNvPr>
          <p:cNvSpPr/>
          <p:nvPr/>
        </p:nvSpPr>
        <p:spPr>
          <a:xfrm>
            <a:off x="132218" y="2695706"/>
            <a:ext cx="1523608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Element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5DBBF6-5AEE-5EAC-F495-35DA420618D4}"/>
              </a:ext>
            </a:extLst>
          </p:cNvPr>
          <p:cNvSpPr/>
          <p:nvPr/>
        </p:nvSpPr>
        <p:spPr>
          <a:xfrm>
            <a:off x="132218" y="4316097"/>
            <a:ext cx="1523608" cy="42068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my:AExactGeom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8E5B3-A1EE-3155-6F5F-9A2D7AB8BA8E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894022" y="3112582"/>
            <a:ext cx="0" cy="120351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BBE558-42BA-A802-9A59-DC0369AB053F}"/>
              </a:ext>
            </a:extLst>
          </p:cNvPr>
          <p:cNvSpPr txBox="1"/>
          <p:nvPr/>
        </p:nvSpPr>
        <p:spPr>
          <a:xfrm>
            <a:off x="872496" y="361841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51F822-7D47-603E-CD51-12701B9656C1}"/>
              </a:ext>
            </a:extLst>
          </p:cNvPr>
          <p:cNvSpPr/>
          <p:nvPr/>
        </p:nvSpPr>
        <p:spPr>
          <a:xfrm>
            <a:off x="5246227" y="2695706"/>
            <a:ext cx="1761840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MapToMathsSpace</a:t>
            </a:r>
            <a:endParaRPr lang="en-GB" sz="1100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E3ACD6-A5A2-A5CE-E56E-F83CF4A9554F}"/>
              </a:ext>
            </a:extLst>
          </p:cNvPr>
          <p:cNvGrpSpPr/>
          <p:nvPr/>
        </p:nvGrpSpPr>
        <p:grpSpPr>
          <a:xfrm>
            <a:off x="7982189" y="2240434"/>
            <a:ext cx="1696298" cy="1331645"/>
            <a:chOff x="9929259" y="424678"/>
            <a:chExt cx="1696298" cy="1331645"/>
          </a:xfrm>
          <a:solidFill>
            <a:srgbClr val="FFFF00"/>
          </a:solidFill>
        </p:grpSpPr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AF520A46-4461-611F-6C10-AFE6CF391FEA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E968EA-505D-50C2-E5A2-19506D7EF4AC}"/>
                </a:ext>
              </a:extLst>
            </p:cNvPr>
            <p:cNvSpPr txBox="1"/>
            <p:nvPr/>
          </p:nvSpPr>
          <p:spPr>
            <a:xfrm>
              <a:off x="9929259" y="932513"/>
              <a:ext cx="16962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owlDatatypeProperty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asWKT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3C9CA4-2109-6502-DD2B-BFFFCFEC4739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>
          <a:xfrm flipH="1" flipV="1">
            <a:off x="7008067" y="2904144"/>
            <a:ext cx="1047058" cy="21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4D760A-2695-D117-7271-3686335BFAB9}"/>
              </a:ext>
            </a:extLst>
          </p:cNvPr>
          <p:cNvSpPr txBox="1"/>
          <p:nvPr/>
        </p:nvSpPr>
        <p:spPr>
          <a:xfrm>
            <a:off x="6985494" y="2642534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189D10-6A79-001D-D484-5244D5CDB8E7}"/>
              </a:ext>
            </a:extLst>
          </p:cNvPr>
          <p:cNvGrpSpPr/>
          <p:nvPr/>
        </p:nvGrpSpPr>
        <p:grpSpPr>
          <a:xfrm>
            <a:off x="2544780" y="2240434"/>
            <a:ext cx="1764927" cy="1331645"/>
            <a:chOff x="10002195" y="424678"/>
            <a:chExt cx="1553141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D9785382-51A1-92F4-F118-1BFE76AEC7D5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451BC6-0D3A-02AD-315A-48FED7EF1BEB}"/>
                </a:ext>
              </a:extLst>
            </p:cNvPr>
            <p:cNvSpPr txBox="1"/>
            <p:nvPr/>
          </p:nvSpPr>
          <p:spPr>
            <a:xfrm>
              <a:off x="10004911" y="851623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hasMapToMathsSpace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3A5DCC-8F01-FAD1-56D7-76EE19803E6C}"/>
              </a:ext>
            </a:extLst>
          </p:cNvPr>
          <p:cNvCxnSpPr>
            <a:cxnSpLocks/>
            <a:stCxn id="20" idx="1"/>
            <a:endCxn id="3" idx="3"/>
          </p:cNvCxnSpPr>
          <p:nvPr/>
        </p:nvCxnSpPr>
        <p:spPr>
          <a:xfrm flipH="1" flipV="1">
            <a:off x="1655826" y="2904144"/>
            <a:ext cx="888954" cy="211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5C9CF0-D649-EE3F-A8A5-E7CA41648F8E}"/>
              </a:ext>
            </a:extLst>
          </p:cNvPr>
          <p:cNvSpPr txBox="1"/>
          <p:nvPr/>
        </p:nvSpPr>
        <p:spPr>
          <a:xfrm>
            <a:off x="1603241" y="2650472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5F4883-76E1-3EDD-078F-3FDBD19131A5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280492" y="2904144"/>
            <a:ext cx="965735" cy="2113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935F43-AED7-BFBA-73A5-6F7841A40F54}"/>
              </a:ext>
            </a:extLst>
          </p:cNvPr>
          <p:cNvSpPr txBox="1"/>
          <p:nvPr/>
        </p:nvSpPr>
        <p:spPr>
          <a:xfrm>
            <a:off x="4230558" y="2642534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A44EF2-F07F-2B5E-9A68-6410923D077D}"/>
              </a:ext>
            </a:extLst>
          </p:cNvPr>
          <p:cNvSpPr/>
          <p:nvPr/>
        </p:nvSpPr>
        <p:spPr>
          <a:xfrm>
            <a:off x="5246227" y="4316097"/>
            <a:ext cx="1761840" cy="42068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my:AExactGeometryMap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A51D43-E43A-A231-694C-806A98A3EBD4}"/>
              </a:ext>
            </a:extLst>
          </p:cNvPr>
          <p:cNvCxnSpPr>
            <a:cxnSpLocks/>
            <a:stCxn id="28" idx="0"/>
            <a:endCxn id="12" idx="2"/>
          </p:cNvCxnSpPr>
          <p:nvPr/>
        </p:nvCxnSpPr>
        <p:spPr>
          <a:xfrm flipV="1">
            <a:off x="6127147" y="3112582"/>
            <a:ext cx="0" cy="120351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EBB6A69-055F-D64B-0259-C5FF5546988A}"/>
              </a:ext>
            </a:extLst>
          </p:cNvPr>
          <p:cNvSpPr txBox="1"/>
          <p:nvPr/>
        </p:nvSpPr>
        <p:spPr>
          <a:xfrm>
            <a:off x="6130836" y="361841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01C823-C10D-DBEC-934B-44B2C7B9F312}"/>
              </a:ext>
            </a:extLst>
          </p:cNvPr>
          <p:cNvSpPr txBox="1"/>
          <p:nvPr/>
        </p:nvSpPr>
        <p:spPr>
          <a:xfrm>
            <a:off x="9098866" y="4203271"/>
            <a:ext cx="292608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”Polygon((-83.6 34.1, -83.2 34.1, -83.2 34.5, -83.6 34.5, -83.6 34.1))”</a:t>
            </a:r>
            <a:endParaRPr lang="en-GB" sz="1200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5DBC1B2-7A57-BDBD-006D-9ECF5C93870A}"/>
              </a:ext>
            </a:extLst>
          </p:cNvPr>
          <p:cNvCxnSpPr>
            <a:cxnSpLocks/>
            <a:stCxn id="28" idx="3"/>
            <a:endCxn id="43" idx="1"/>
          </p:cNvCxnSpPr>
          <p:nvPr/>
        </p:nvCxnSpPr>
        <p:spPr>
          <a:xfrm flipV="1">
            <a:off x="7008067" y="4526437"/>
            <a:ext cx="2090799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99AC39D-FFC3-8A72-5A10-0D9C7DD89B54}"/>
              </a:ext>
            </a:extLst>
          </p:cNvPr>
          <p:cNvSpPr txBox="1"/>
          <p:nvPr/>
        </p:nvSpPr>
        <p:spPr>
          <a:xfrm>
            <a:off x="7567300" y="4274029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ies:asWKT</a:t>
            </a:r>
            <a:endParaRPr lang="en-GB" sz="11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3EF50F-58EC-A940-D0C2-B3365CB9B9A3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1655826" y="4526438"/>
            <a:ext cx="359040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58384D5-CAD1-16AA-53DB-1F48DE8A1714}"/>
              </a:ext>
            </a:extLst>
          </p:cNvPr>
          <p:cNvSpPr txBox="1"/>
          <p:nvPr/>
        </p:nvSpPr>
        <p:spPr>
          <a:xfrm>
            <a:off x="2696808" y="4265321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hasMapToMathsSpace</a:t>
            </a:r>
            <a:endParaRPr lang="en-GB" sz="11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8863549-54A1-118E-C7DA-8DF006FBA92A}"/>
              </a:ext>
            </a:extLst>
          </p:cNvPr>
          <p:cNvSpPr/>
          <p:nvPr/>
        </p:nvSpPr>
        <p:spPr>
          <a:xfrm>
            <a:off x="5251593" y="5643316"/>
            <a:ext cx="1761840" cy="42068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CRS84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CDD4D8-89F0-7FBB-DAED-B8071B8C9ED5}"/>
              </a:ext>
            </a:extLst>
          </p:cNvPr>
          <p:cNvCxnSpPr>
            <a:cxnSpLocks/>
            <a:stCxn id="28" idx="2"/>
            <a:endCxn id="60" idx="0"/>
          </p:cNvCxnSpPr>
          <p:nvPr/>
        </p:nvCxnSpPr>
        <p:spPr>
          <a:xfrm>
            <a:off x="6127147" y="4736778"/>
            <a:ext cx="5366" cy="90653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7700AF7-A91C-DCE9-6FD3-193EC60079A6}"/>
              </a:ext>
            </a:extLst>
          </p:cNvPr>
          <p:cNvSpPr txBox="1"/>
          <p:nvPr/>
        </p:nvSpPr>
        <p:spPr>
          <a:xfrm>
            <a:off x="6140241" y="5067486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hasCRS</a:t>
            </a:r>
            <a:endParaRPr lang="en-GB" sz="1100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BE6780A-4659-7414-8450-EFBEF651ACCE}"/>
              </a:ext>
            </a:extLst>
          </p:cNvPr>
          <p:cNvSpPr/>
          <p:nvPr/>
        </p:nvSpPr>
        <p:spPr>
          <a:xfrm>
            <a:off x="5189143" y="213236"/>
            <a:ext cx="1886740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CoordinateReferenceSystem</a:t>
            </a:r>
            <a:endParaRPr lang="en-GB" sz="1100" dirty="0">
              <a:solidFill>
                <a:schemeClr val="tx1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50A948E-B645-6290-B630-59F8C03216D1}"/>
              </a:ext>
            </a:extLst>
          </p:cNvPr>
          <p:cNvGrpSpPr/>
          <p:nvPr/>
        </p:nvGrpSpPr>
        <p:grpSpPr>
          <a:xfrm>
            <a:off x="5248162" y="1085978"/>
            <a:ext cx="1761840" cy="1145326"/>
            <a:chOff x="10002195" y="424678"/>
            <a:chExt cx="1550424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68" name="Diamond 67">
              <a:extLst>
                <a:ext uri="{FF2B5EF4-FFF2-40B4-BE49-F238E27FC236}">
                  <a16:creationId xmlns:a16="http://schemas.microsoft.com/office/drawing/2014/main" id="{3C4E1F85-DBA4-8050-2EB2-D69498D9025C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66B1DA9-3C21-CE0D-E812-9B2BC346A321}"/>
                </a:ext>
              </a:extLst>
            </p:cNvPr>
            <p:cNvSpPr txBox="1"/>
            <p:nvPr/>
          </p:nvSpPr>
          <p:spPr>
            <a:xfrm>
              <a:off x="10097934" y="895168"/>
              <a:ext cx="136437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hasCRS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858F765-7925-4220-42CF-0CB1FCCAFC84}"/>
              </a:ext>
            </a:extLst>
          </p:cNvPr>
          <p:cNvCxnSpPr>
            <a:cxnSpLocks/>
            <a:stCxn id="68" idx="2"/>
            <a:endCxn id="12" idx="0"/>
          </p:cNvCxnSpPr>
          <p:nvPr/>
        </p:nvCxnSpPr>
        <p:spPr>
          <a:xfrm flipH="1">
            <a:off x="6127147" y="2231304"/>
            <a:ext cx="1935" cy="46440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95E7CAF-D9B0-4B8B-CFE2-2158A5FD53AF}"/>
              </a:ext>
            </a:extLst>
          </p:cNvPr>
          <p:cNvSpPr txBox="1"/>
          <p:nvPr/>
        </p:nvSpPr>
        <p:spPr>
          <a:xfrm>
            <a:off x="6114637" y="2303578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E0EB367-672D-DCA0-E89D-18E9AE3BEA0B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129082" y="630112"/>
            <a:ext cx="3431" cy="455866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059971B-6934-89DA-BC19-9AD1A043BCAC}"/>
              </a:ext>
            </a:extLst>
          </p:cNvPr>
          <p:cNvSpPr txBox="1"/>
          <p:nvPr/>
        </p:nvSpPr>
        <p:spPr>
          <a:xfrm>
            <a:off x="6135856" y="728383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19785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0593-11F1-FC4B-3CEE-0D4ABCEA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79A8E9-7BD0-2BED-2734-E43570D87B80}"/>
              </a:ext>
            </a:extLst>
          </p:cNvPr>
          <p:cNvSpPr/>
          <p:nvPr/>
        </p:nvSpPr>
        <p:spPr>
          <a:xfrm>
            <a:off x="54297" y="643144"/>
            <a:ext cx="1985434" cy="4168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Element</a:t>
            </a:r>
            <a:endParaRPr lang="en-GB" sz="1100" dirty="0">
              <a:solidFill>
                <a:schemeClr val="tx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DADD73-0B8B-D539-6368-31FCD46A21EB}"/>
              </a:ext>
            </a:extLst>
          </p:cNvPr>
          <p:cNvGrpSpPr/>
          <p:nvPr/>
        </p:nvGrpSpPr>
        <p:grpSpPr>
          <a:xfrm>
            <a:off x="2792977" y="187871"/>
            <a:ext cx="1550425" cy="1331645"/>
            <a:chOff x="10002195" y="424678"/>
            <a:chExt cx="1550425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CC6658B7-B745-E9C3-2A9F-D4E1EE68DFB5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68F819-8E99-92E0-D605-6D51B2816A1E}"/>
                </a:ext>
              </a:extLst>
            </p:cNvPr>
            <p:cNvSpPr txBox="1"/>
            <p:nvPr/>
          </p:nvSpPr>
          <p:spPr>
            <a:xfrm>
              <a:off x="10002195" y="932513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hasDomainSpace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05901D-84E3-8EDD-54E6-1AFA9A4B3B37}"/>
              </a:ext>
            </a:extLst>
          </p:cNvPr>
          <p:cNvCxnSpPr>
            <a:cxnSpLocks/>
            <a:stCxn id="22" idx="1"/>
            <a:endCxn id="2" idx="3"/>
          </p:cNvCxnSpPr>
          <p:nvPr/>
        </p:nvCxnSpPr>
        <p:spPr>
          <a:xfrm flipH="1" flipV="1">
            <a:off x="2039731" y="851582"/>
            <a:ext cx="753246" cy="21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29E7AB7-C39A-E8B8-03DA-602C2DD02161}"/>
              </a:ext>
            </a:extLst>
          </p:cNvPr>
          <p:cNvSpPr txBox="1"/>
          <p:nvPr/>
        </p:nvSpPr>
        <p:spPr>
          <a:xfrm>
            <a:off x="2013913" y="538641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435A5E-DC3A-6C88-6FCA-2D5909DFFA02}"/>
              </a:ext>
            </a:extLst>
          </p:cNvPr>
          <p:cNvSpPr/>
          <p:nvPr/>
        </p:nvSpPr>
        <p:spPr>
          <a:xfrm>
            <a:off x="5103283" y="643143"/>
            <a:ext cx="1985434" cy="20746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MapToMathsSpace</a:t>
            </a:r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C927C9-5ADC-1ED8-1955-CD9E151DD55F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343401" y="851582"/>
            <a:ext cx="759882" cy="2112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1646BF-0E36-1BEF-28D1-630D68D90B72}"/>
              </a:ext>
            </a:extLst>
          </p:cNvPr>
          <p:cNvSpPr txBox="1"/>
          <p:nvPr/>
        </p:nvSpPr>
        <p:spPr>
          <a:xfrm>
            <a:off x="4116402" y="538641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C2E1A3-97EE-175D-BBDF-82B47D96DC79}"/>
              </a:ext>
            </a:extLst>
          </p:cNvPr>
          <p:cNvGrpSpPr/>
          <p:nvPr/>
        </p:nvGrpSpPr>
        <p:grpSpPr>
          <a:xfrm flipH="1">
            <a:off x="7873582" y="187871"/>
            <a:ext cx="1550425" cy="1331645"/>
            <a:chOff x="10002195" y="424678"/>
            <a:chExt cx="1550425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9E368354-6D09-F29D-2C08-2D2ED82BD80E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502A386-FC88-CA8E-A7D1-C5751CE26C1F}"/>
                </a:ext>
              </a:extLst>
            </p:cNvPr>
            <p:cNvSpPr txBox="1"/>
            <p:nvPr/>
          </p:nvSpPr>
          <p:spPr>
            <a:xfrm>
              <a:off x="10002195" y="932513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hasRangeSpace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E16FB0-71A7-ECE9-2810-2982ADB7EF99}"/>
              </a:ext>
            </a:extLst>
          </p:cNvPr>
          <p:cNvCxnSpPr>
            <a:cxnSpLocks/>
            <a:stCxn id="21" idx="1"/>
          </p:cNvCxnSpPr>
          <p:nvPr/>
        </p:nvCxnSpPr>
        <p:spPr>
          <a:xfrm>
            <a:off x="9424007" y="853694"/>
            <a:ext cx="71713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DC7417-4FEA-4AC1-4D68-033C3E0EDE85}"/>
              </a:ext>
            </a:extLst>
          </p:cNvPr>
          <p:cNvSpPr txBox="1"/>
          <p:nvPr/>
        </p:nvSpPr>
        <p:spPr>
          <a:xfrm flipH="1">
            <a:off x="9188049" y="538641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F7A13C-A3E8-19EC-384F-6F1269259357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7088717" y="853694"/>
            <a:ext cx="78486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4DB7F9E-8E74-7269-3508-7930C3A83643}"/>
              </a:ext>
            </a:extLst>
          </p:cNvPr>
          <p:cNvSpPr txBox="1"/>
          <p:nvPr/>
        </p:nvSpPr>
        <p:spPr>
          <a:xfrm flipH="1">
            <a:off x="6996696" y="538641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0EB23-031B-DF43-331C-45EB295266BE}"/>
              </a:ext>
            </a:extLst>
          </p:cNvPr>
          <p:cNvSpPr/>
          <p:nvPr/>
        </p:nvSpPr>
        <p:spPr>
          <a:xfrm>
            <a:off x="10141137" y="644568"/>
            <a:ext cx="1996566" cy="38596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MathsSpace</a:t>
            </a:r>
            <a:endParaRPr lang="en-GB" sz="1100" dirty="0">
              <a:solidFill>
                <a:schemeClr val="tx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97AE68A-F1AF-419C-40E3-B8135AF42497}"/>
              </a:ext>
            </a:extLst>
          </p:cNvPr>
          <p:cNvGrpSpPr/>
          <p:nvPr/>
        </p:nvGrpSpPr>
        <p:grpSpPr>
          <a:xfrm flipH="1">
            <a:off x="7847934" y="1634428"/>
            <a:ext cx="1601722" cy="1331645"/>
            <a:chOff x="9976546" y="424678"/>
            <a:chExt cx="1601722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47" name="Diamond 46">
              <a:extLst>
                <a:ext uri="{FF2B5EF4-FFF2-40B4-BE49-F238E27FC236}">
                  <a16:creationId xmlns:a16="http://schemas.microsoft.com/office/drawing/2014/main" id="{2D03E7C9-FA25-82C6-3EBF-5C7310994DAD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BF42B9-A71E-7A33-51EA-480D8404FBC8}"/>
                </a:ext>
              </a:extLst>
            </p:cNvPr>
            <p:cNvSpPr txBox="1"/>
            <p:nvPr/>
          </p:nvSpPr>
          <p:spPr>
            <a:xfrm>
              <a:off x="9976546" y="890178"/>
              <a:ext cx="16017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isApproximateMapTo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265EC17-3D94-DC27-BDE4-8BB1BAA5A692}"/>
              </a:ext>
            </a:extLst>
          </p:cNvPr>
          <p:cNvCxnSpPr>
            <a:cxnSpLocks/>
          </p:cNvCxnSpPr>
          <p:nvPr/>
        </p:nvCxnSpPr>
        <p:spPr>
          <a:xfrm>
            <a:off x="7088717" y="2097046"/>
            <a:ext cx="102879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E341059-240B-51CE-960E-E3339BB93DB5}"/>
              </a:ext>
            </a:extLst>
          </p:cNvPr>
          <p:cNvSpPr txBox="1"/>
          <p:nvPr/>
        </p:nvSpPr>
        <p:spPr>
          <a:xfrm flipH="1">
            <a:off x="7089830" y="1832794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6BECE6-E7B6-6F4A-99BE-5DA04D1D19C8}"/>
              </a:ext>
            </a:extLst>
          </p:cNvPr>
          <p:cNvCxnSpPr>
            <a:cxnSpLocks/>
          </p:cNvCxnSpPr>
          <p:nvPr/>
        </p:nvCxnSpPr>
        <p:spPr>
          <a:xfrm>
            <a:off x="7088717" y="2541304"/>
            <a:ext cx="102879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325D3FA-D98C-6589-02C8-3AA3CF9AD26B}"/>
              </a:ext>
            </a:extLst>
          </p:cNvPr>
          <p:cNvSpPr txBox="1"/>
          <p:nvPr/>
        </p:nvSpPr>
        <p:spPr>
          <a:xfrm flipH="1">
            <a:off x="7083464" y="2539519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BBA7D03-41BB-1812-2441-4576C873AC53}"/>
              </a:ext>
            </a:extLst>
          </p:cNvPr>
          <p:cNvGrpSpPr/>
          <p:nvPr/>
        </p:nvGrpSpPr>
        <p:grpSpPr>
          <a:xfrm>
            <a:off x="7800594" y="3011289"/>
            <a:ext cx="1550425" cy="1331645"/>
            <a:chOff x="10002195" y="424678"/>
            <a:chExt cx="1550425" cy="133164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2" name="Diamond 71">
              <a:extLst>
                <a:ext uri="{FF2B5EF4-FFF2-40B4-BE49-F238E27FC236}">
                  <a16:creationId xmlns:a16="http://schemas.microsoft.com/office/drawing/2014/main" id="{2553AEA0-4295-FC25-6D84-2F570E653EAA}"/>
                </a:ext>
              </a:extLst>
            </p:cNvPr>
            <p:cNvSpPr/>
            <p:nvPr/>
          </p:nvSpPr>
          <p:spPr>
            <a:xfrm>
              <a:off x="10002195" y="424678"/>
              <a:ext cx="1550424" cy="1331645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345317F-B183-D98C-6C9E-B4CFB5E7C239}"/>
                </a:ext>
              </a:extLst>
            </p:cNvPr>
            <p:cNvSpPr txBox="1"/>
            <p:nvPr/>
          </p:nvSpPr>
          <p:spPr>
            <a:xfrm>
              <a:off x="10002195" y="932513"/>
              <a:ext cx="1550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&lt;&lt;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owlObjectProperty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&gt;&gt;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isSubSpaceOf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4CF7DE-00A3-E003-0541-0C807E8E23C1}"/>
              </a:ext>
            </a:extLst>
          </p:cNvPr>
          <p:cNvCxnSpPr>
            <a:cxnSpLocks/>
          </p:cNvCxnSpPr>
          <p:nvPr/>
        </p:nvCxnSpPr>
        <p:spPr>
          <a:xfrm flipH="1">
            <a:off x="9107085" y="3473907"/>
            <a:ext cx="102879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8EE0C20-F0CC-30A8-74E3-5B5C4280062C}"/>
              </a:ext>
            </a:extLst>
          </p:cNvPr>
          <p:cNvSpPr txBox="1"/>
          <p:nvPr/>
        </p:nvSpPr>
        <p:spPr>
          <a:xfrm>
            <a:off x="9013951" y="3209655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rdfsdomain</a:t>
            </a:r>
            <a:r>
              <a:rPr lang="en-US" sz="1100" dirty="0"/>
              <a:t>&gt;&gt;</a:t>
            </a:r>
            <a:endParaRPr lang="en-GB" sz="11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D39A0DB-9B93-4822-FD90-0B0B3CF35C8D}"/>
              </a:ext>
            </a:extLst>
          </p:cNvPr>
          <p:cNvCxnSpPr>
            <a:cxnSpLocks/>
          </p:cNvCxnSpPr>
          <p:nvPr/>
        </p:nvCxnSpPr>
        <p:spPr>
          <a:xfrm flipH="1">
            <a:off x="9107085" y="3918165"/>
            <a:ext cx="102879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20845DF-5452-AF52-114F-C1AA45BA6FAA}"/>
              </a:ext>
            </a:extLst>
          </p:cNvPr>
          <p:cNvSpPr txBox="1"/>
          <p:nvPr/>
        </p:nvSpPr>
        <p:spPr>
          <a:xfrm>
            <a:off x="9126115" y="3916380"/>
            <a:ext cx="1015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&lt;&lt;</a:t>
            </a:r>
            <a:r>
              <a:rPr lang="en-US" sz="1100" dirty="0" err="1"/>
              <a:t>rdfsrange</a:t>
            </a:r>
            <a:r>
              <a:rPr lang="en-US" sz="1100" dirty="0"/>
              <a:t>&gt;&gt;</a:t>
            </a:r>
            <a:endParaRPr lang="en-GB" sz="1100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4DD909A-E22E-F8E1-9854-06CB796F7FA2}"/>
              </a:ext>
            </a:extLst>
          </p:cNvPr>
          <p:cNvSpPr/>
          <p:nvPr/>
        </p:nvSpPr>
        <p:spPr>
          <a:xfrm>
            <a:off x="3963498" y="3075232"/>
            <a:ext cx="1985434" cy="50087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CoordinateSystem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AB476A14-3F07-1F60-B1BA-527C5DB96A9E}"/>
              </a:ext>
            </a:extLst>
          </p:cNvPr>
          <p:cNvSpPr/>
          <p:nvPr/>
        </p:nvSpPr>
        <p:spPr>
          <a:xfrm>
            <a:off x="5412324" y="2752488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2BDF3A3-3B1A-DFB8-E9C8-E88623721EAB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5484789" y="2913860"/>
            <a:ext cx="0" cy="161372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03E1278-099A-3872-DCD0-DF893212AE04}"/>
              </a:ext>
            </a:extLst>
          </p:cNvPr>
          <p:cNvSpPr/>
          <p:nvPr/>
        </p:nvSpPr>
        <p:spPr>
          <a:xfrm>
            <a:off x="3963498" y="4087763"/>
            <a:ext cx="1985434" cy="445412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OSGB</a:t>
            </a:r>
            <a:endParaRPr lang="en-GB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ECC8DE6-3211-114E-59D8-06A51955FB72}"/>
              </a:ext>
            </a:extLst>
          </p:cNvPr>
          <p:cNvCxnSpPr>
            <a:cxnSpLocks/>
            <a:stCxn id="84" idx="0"/>
            <a:endCxn id="80" idx="2"/>
          </p:cNvCxnSpPr>
          <p:nvPr/>
        </p:nvCxnSpPr>
        <p:spPr>
          <a:xfrm flipV="1">
            <a:off x="4956215" y="3576111"/>
            <a:ext cx="0" cy="51165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5EFBABD-9F89-7DAC-95BD-E3FD68B00B42}"/>
              </a:ext>
            </a:extLst>
          </p:cNvPr>
          <p:cNvSpPr txBox="1"/>
          <p:nvPr/>
        </p:nvSpPr>
        <p:spPr>
          <a:xfrm>
            <a:off x="4939754" y="3701705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EB1704A-4FDC-64C7-B641-00404E646C13}"/>
              </a:ext>
            </a:extLst>
          </p:cNvPr>
          <p:cNvSpPr/>
          <p:nvPr/>
        </p:nvSpPr>
        <p:spPr>
          <a:xfrm>
            <a:off x="54297" y="6217187"/>
            <a:ext cx="1985434" cy="42068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My Polygon</a:t>
            </a:r>
            <a:endParaRPr lang="en-GB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1238986-40AC-0240-28D0-D248867D668C}"/>
              </a:ext>
            </a:extLst>
          </p:cNvPr>
          <p:cNvSpPr/>
          <p:nvPr/>
        </p:nvSpPr>
        <p:spPr>
          <a:xfrm>
            <a:off x="54297" y="1426653"/>
            <a:ext cx="1985434" cy="61017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&lt;&lt;</a:t>
            </a:r>
            <a:r>
              <a:rPr lang="en-US" sz="1100" dirty="0" err="1">
                <a:solidFill>
                  <a:schemeClr val="tx1"/>
                </a:solidFill>
              </a:rPr>
              <a:t>rdfsClass</a:t>
            </a:r>
            <a:r>
              <a:rPr lang="en-US" sz="1100" dirty="0">
                <a:solidFill>
                  <a:schemeClr val="tx1"/>
                </a:solidFill>
              </a:rPr>
              <a:t>&gt;&gt;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2D spatial element through time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C8C48483-47B9-5C00-5BB0-366F1DC504CD}"/>
              </a:ext>
            </a:extLst>
          </p:cNvPr>
          <p:cNvSpPr/>
          <p:nvPr/>
        </p:nvSpPr>
        <p:spPr>
          <a:xfrm>
            <a:off x="980822" y="1083837"/>
            <a:ext cx="144930" cy="161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2FD9B76-042E-91FA-C6D5-4C048AA7A34D}"/>
              </a:ext>
            </a:extLst>
          </p:cNvPr>
          <p:cNvCxnSpPr>
            <a:cxnSpLocks/>
            <a:stCxn id="95" idx="3"/>
            <a:endCxn id="94" idx="0"/>
          </p:cNvCxnSpPr>
          <p:nvPr/>
        </p:nvCxnSpPr>
        <p:spPr>
          <a:xfrm flipH="1">
            <a:off x="1047014" y="1245209"/>
            <a:ext cx="6273" cy="181444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32CF790-F5F1-DC41-5F84-F918D231E8A8}"/>
              </a:ext>
            </a:extLst>
          </p:cNvPr>
          <p:cNvCxnSpPr>
            <a:cxnSpLocks/>
            <a:stCxn id="93" idx="0"/>
            <a:endCxn id="94" idx="2"/>
          </p:cNvCxnSpPr>
          <p:nvPr/>
        </p:nvCxnSpPr>
        <p:spPr>
          <a:xfrm flipV="1">
            <a:off x="1047014" y="2036826"/>
            <a:ext cx="0" cy="418036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D361413-2C06-B391-82F4-433D3138B168}"/>
              </a:ext>
            </a:extLst>
          </p:cNvPr>
          <p:cNvSpPr txBox="1"/>
          <p:nvPr/>
        </p:nvSpPr>
        <p:spPr>
          <a:xfrm>
            <a:off x="1047014" y="5843792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DB2F450E-BA0B-32A3-7BEA-BD203B85D9E5}"/>
              </a:ext>
            </a:extLst>
          </p:cNvPr>
          <p:cNvSpPr/>
          <p:nvPr/>
        </p:nvSpPr>
        <p:spPr>
          <a:xfrm>
            <a:off x="5098030" y="6217187"/>
            <a:ext cx="1991800" cy="445412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My Polygon WGS84 map</a:t>
            </a:r>
            <a:endParaRPr lang="en-GB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489B6E5-6612-6E5D-3243-FFF0EBB236B8}"/>
              </a:ext>
            </a:extLst>
          </p:cNvPr>
          <p:cNvCxnSpPr>
            <a:cxnSpLocks/>
            <a:stCxn id="107" idx="0"/>
            <a:endCxn id="3" idx="2"/>
          </p:cNvCxnSpPr>
          <p:nvPr/>
        </p:nvCxnSpPr>
        <p:spPr>
          <a:xfrm flipV="1">
            <a:off x="6093930" y="2717797"/>
            <a:ext cx="2070" cy="349939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8FF9DE3-EFB2-025D-D77D-F2F81D041948}"/>
              </a:ext>
            </a:extLst>
          </p:cNvPr>
          <p:cNvSpPr txBox="1"/>
          <p:nvPr/>
        </p:nvSpPr>
        <p:spPr>
          <a:xfrm>
            <a:off x="6093930" y="584379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45FBFB3-35C4-09E3-9DBE-F7DC6B031F26}"/>
              </a:ext>
            </a:extLst>
          </p:cNvPr>
          <p:cNvCxnSpPr>
            <a:cxnSpLocks/>
            <a:stCxn id="107" idx="1"/>
            <a:endCxn id="93" idx="3"/>
          </p:cNvCxnSpPr>
          <p:nvPr/>
        </p:nvCxnSpPr>
        <p:spPr>
          <a:xfrm flipH="1" flipV="1">
            <a:off x="2039731" y="6427528"/>
            <a:ext cx="3058299" cy="123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ECC2F0C8-7C67-7229-91C3-5915AE38EA60}"/>
              </a:ext>
            </a:extLst>
          </p:cNvPr>
          <p:cNvSpPr txBox="1"/>
          <p:nvPr/>
        </p:nvSpPr>
        <p:spPr>
          <a:xfrm>
            <a:off x="3070784" y="6187464"/>
            <a:ext cx="11608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hasDomainSpace</a:t>
            </a:r>
            <a:endParaRPr lang="en-GB" sz="1100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6677082-A880-C4E2-BF8F-6A2FE6B7CADE}"/>
              </a:ext>
            </a:extLst>
          </p:cNvPr>
          <p:cNvCxnSpPr>
            <a:cxnSpLocks/>
            <a:stCxn id="122" idx="1"/>
            <a:endCxn id="107" idx="3"/>
          </p:cNvCxnSpPr>
          <p:nvPr/>
        </p:nvCxnSpPr>
        <p:spPr>
          <a:xfrm flipH="1" flipV="1">
            <a:off x="7089830" y="6439893"/>
            <a:ext cx="3066768" cy="29547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365B84C-13BB-EC91-2A6E-3ADB59FD1E1B}"/>
              </a:ext>
            </a:extLst>
          </p:cNvPr>
          <p:cNvSpPr txBox="1"/>
          <p:nvPr/>
        </p:nvSpPr>
        <p:spPr>
          <a:xfrm>
            <a:off x="8070064" y="6199297"/>
            <a:ext cx="10695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hasRangeSpace</a:t>
            </a:r>
            <a:endParaRPr lang="en-GB" sz="11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F8215CB-EB42-0F38-26A8-9F33B45AAA59}"/>
              </a:ext>
            </a:extLst>
          </p:cNvPr>
          <p:cNvSpPr/>
          <p:nvPr/>
        </p:nvSpPr>
        <p:spPr>
          <a:xfrm>
            <a:off x="10156598" y="6246734"/>
            <a:ext cx="1985434" cy="445412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My Polygon WGS84 image</a:t>
            </a:r>
            <a:endParaRPr lang="en-GB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D09B41C-9885-CFD4-8CEF-1C35435FAE65}"/>
              </a:ext>
            </a:extLst>
          </p:cNvPr>
          <p:cNvCxnSpPr>
            <a:cxnSpLocks/>
          </p:cNvCxnSpPr>
          <p:nvPr/>
        </p:nvCxnSpPr>
        <p:spPr>
          <a:xfrm flipV="1">
            <a:off x="5484789" y="4590957"/>
            <a:ext cx="0" cy="1626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40442F55-18F4-C6C3-F649-CF5D49AE6537}"/>
              </a:ext>
            </a:extLst>
          </p:cNvPr>
          <p:cNvSpPr txBox="1"/>
          <p:nvPr/>
        </p:nvSpPr>
        <p:spPr>
          <a:xfrm>
            <a:off x="3903133" y="5655435"/>
            <a:ext cx="1578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 err="1"/>
              <a:t>isApproximateMapTo</a:t>
            </a:r>
            <a:endParaRPr lang="en-GB" sz="1100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8F2CC124-A1D9-D89B-041F-5E0119A2C005}"/>
              </a:ext>
            </a:extLst>
          </p:cNvPr>
          <p:cNvSpPr/>
          <p:nvPr/>
        </p:nvSpPr>
        <p:spPr>
          <a:xfrm>
            <a:off x="9551135" y="4996250"/>
            <a:ext cx="1985434" cy="445412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</a:t>
            </a:r>
            <a:r>
              <a:rPr lang="en-US" sz="1100" baseline="30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with Euclidean Metric</a:t>
            </a:r>
            <a:endParaRPr lang="en-GB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BB623B7-4695-E05D-DC6B-CD3F796B9FCF}"/>
              </a:ext>
            </a:extLst>
          </p:cNvPr>
          <p:cNvCxnSpPr>
            <a:cxnSpLocks/>
          </p:cNvCxnSpPr>
          <p:nvPr/>
        </p:nvCxnSpPr>
        <p:spPr>
          <a:xfrm flipV="1">
            <a:off x="11139420" y="4504265"/>
            <a:ext cx="0" cy="49198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F5760C7F-B75F-F4BF-DE8D-38500368C168}"/>
              </a:ext>
            </a:extLst>
          </p:cNvPr>
          <p:cNvSpPr txBox="1"/>
          <p:nvPr/>
        </p:nvSpPr>
        <p:spPr>
          <a:xfrm>
            <a:off x="10687329" y="4686783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</a:rPr>
              <a:t>type</a:t>
            </a:r>
            <a:endParaRPr lang="en-GB" sz="1200" dirty="0">
              <a:solidFill>
                <a:srgbClr val="C00000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7852FA3-F9AD-5FB0-3AEF-F9115F95C5CB}"/>
              </a:ext>
            </a:extLst>
          </p:cNvPr>
          <p:cNvCxnSpPr>
            <a:cxnSpLocks/>
            <a:stCxn id="122" idx="0"/>
          </p:cNvCxnSpPr>
          <p:nvPr/>
        </p:nvCxnSpPr>
        <p:spPr>
          <a:xfrm flipV="1">
            <a:off x="11149315" y="5441662"/>
            <a:ext cx="4140" cy="8050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372CA661-84D8-BA85-B059-C4B96095CAE6}"/>
              </a:ext>
            </a:extLst>
          </p:cNvPr>
          <p:cNvSpPr txBox="1"/>
          <p:nvPr/>
        </p:nvSpPr>
        <p:spPr>
          <a:xfrm>
            <a:off x="9993027" y="5712986"/>
            <a:ext cx="1160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 err="1"/>
              <a:t>isSubSpaceOf</a:t>
            </a:r>
            <a:endParaRPr lang="en-GB" sz="1100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DA87D22-A6BD-A12A-90AE-502DBAE15E59}"/>
              </a:ext>
            </a:extLst>
          </p:cNvPr>
          <p:cNvCxnSpPr>
            <a:cxnSpLocks/>
          </p:cNvCxnSpPr>
          <p:nvPr/>
        </p:nvCxnSpPr>
        <p:spPr>
          <a:xfrm flipV="1">
            <a:off x="11681900" y="4813847"/>
            <a:ext cx="0" cy="1463218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6244987-8150-8B28-B0EA-616C72F00197}"/>
              </a:ext>
            </a:extLst>
          </p:cNvPr>
          <p:cNvCxnSpPr>
            <a:cxnSpLocks/>
          </p:cNvCxnSpPr>
          <p:nvPr/>
        </p:nvCxnSpPr>
        <p:spPr>
          <a:xfrm>
            <a:off x="11139420" y="4813847"/>
            <a:ext cx="550947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7872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gacyData xmlns="aaacb922-5235-4a66-b188-303b9b46fbd7" xsi:nil="true"/>
    <_dlc_DocId xmlns="a9d868ab-27c4-42e6-a139-837435411510">4UDYCVFPNNHJ-344984010-24470</_dlc_DocId>
    <lcf76f155ced4ddcb4097134ff3c332f xmlns="831c1cc6-a2e9-4498-be86-8fd44533aaea">
      <Terms xmlns="http://schemas.microsoft.com/office/infopath/2007/PartnerControls"/>
    </lcf76f155ced4ddcb4097134ff3c332f>
    <TaxCatchAll xmlns="a9d868ab-27c4-42e6-a139-837435411510">
      <Value>1</Value>
    </TaxCatchAll>
    <m975189f4ba442ecbf67d4147307b177 xmlns="a9d868ab-27c4-42e6-a139-837435411510">
      <Terms xmlns="http://schemas.microsoft.com/office/infopath/2007/PartnerControls">
        <TermInfo xmlns="http://schemas.microsoft.com/office/infopath/2007/PartnerControls">
          <TermName xmlns="http://schemas.microsoft.com/office/infopath/2007/PartnerControls">Domestic and International Markets and Exports</TermName>
          <TermId xmlns="http://schemas.microsoft.com/office/infopath/2007/PartnerControls">613188b1-0126-4f05-98c7-e006f6c31fa1</TermId>
        </TermInfo>
      </Terms>
    </m975189f4ba442ecbf67d4147307b177>
    <Retention_x0020_Label xmlns="a8f60570-4bd3-4f2b-950b-a996de8ab151" xsi:nil="true"/>
    <Government_x0020_Body xmlns="b413c3fd-5a3b-4239-b985-69032e371c04">DIT</Government_x0020_Body>
    <Date_x0020_Opened xmlns="b413c3fd-5a3b-4239-b985-69032e371c04">2025-07-24T15:07:47+00:00</Date_x0020_Opened>
    <Descriptor xmlns="0063f72e-ace3-48fb-9c1f-5b513408b31f" xsi:nil="true"/>
    <Security_x0020_Classification xmlns="0063f72e-ace3-48fb-9c1f-5b513408b31f">OFFICIAL</Security_x0020_Classification>
    <_dlc_DocIdUrl xmlns="a9d868ab-27c4-42e6-a139-837435411510">
      <Url>https://dbis.sharepoint.com/sites/NDTPSuppliers/_layouts/15/DocIdRedir.aspx?ID=4UDYCVFPNNHJ-344984010-24470</Url>
      <Description>4UDYCVFPNNHJ-344984010-24470</Description>
    </_dlc_DocIdUrl>
    <Date_x0020_Closed xmlns="b413c3fd-5a3b-4239-b985-69032e371c0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300B1772DCAD45A4E0B213DF0BCE68" ma:contentTypeVersion="21" ma:contentTypeDescription="Create a new document." ma:contentTypeScope="" ma:versionID="118599acadfd0de56ebb9293ac69e056">
  <xsd:schema xmlns:xsd="http://www.w3.org/2001/XMLSchema" xmlns:xs="http://www.w3.org/2001/XMLSchema" xmlns:p="http://schemas.microsoft.com/office/2006/metadata/properties" xmlns:ns2="a9d868ab-27c4-42e6-a139-837435411510" xmlns:ns3="0063f72e-ace3-48fb-9c1f-5b513408b31f" xmlns:ns4="b413c3fd-5a3b-4239-b985-69032e371c04" xmlns:ns5="a8f60570-4bd3-4f2b-950b-a996de8ab151" xmlns:ns6="aaacb922-5235-4a66-b188-303b9b46fbd7" xmlns:ns7="831c1cc6-a2e9-4498-be86-8fd44533aaea" targetNamespace="http://schemas.microsoft.com/office/2006/metadata/properties" ma:root="true" ma:fieldsID="56581f6fe73f87f2c0a9d16bbd26e780" ns2:_="" ns3:_="" ns4:_="" ns5:_="" ns6:_="" ns7:_="">
    <xsd:import namespace="a9d868ab-27c4-42e6-a139-837435411510"/>
    <xsd:import namespace="0063f72e-ace3-48fb-9c1f-5b513408b31f"/>
    <xsd:import namespace="b413c3fd-5a3b-4239-b985-69032e371c04"/>
    <xsd:import namespace="a8f60570-4bd3-4f2b-950b-a996de8ab151"/>
    <xsd:import namespace="aaacb922-5235-4a66-b188-303b9b46fbd7"/>
    <xsd:import namespace="831c1cc6-a2e9-4498-be86-8fd44533aae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ecurity_x0020_Classification" minOccurs="0"/>
                <xsd:element ref="ns3:Descriptor" minOccurs="0"/>
                <xsd:element ref="ns2:m975189f4ba442ecbf67d4147307b177" minOccurs="0"/>
                <xsd:element ref="ns2:TaxCatchAll" minOccurs="0"/>
                <xsd:element ref="ns2:TaxCatchAllLabel" minOccurs="0"/>
                <xsd:element ref="ns4:Government_x0020_Body" minOccurs="0"/>
                <xsd:element ref="ns4:Date_x0020_Opened" minOccurs="0"/>
                <xsd:element ref="ns4:Date_x0020_Closed" minOccurs="0"/>
                <xsd:element ref="ns5:Retention_x0020_Label" minOccurs="0"/>
                <xsd:element ref="ns6:LegacyData" minOccurs="0"/>
                <xsd:element ref="ns7:MediaServiceMetadata" minOccurs="0"/>
                <xsd:element ref="ns7:MediaServiceFastMetadata" minOccurs="0"/>
                <xsd:element ref="ns7:MediaServiceSearchProperties" minOccurs="0"/>
                <xsd:element ref="ns7:MediaServiceDateTaken" minOccurs="0"/>
                <xsd:element ref="ns7:MediaServiceObjectDetectorVersions" minOccurs="0"/>
                <xsd:element ref="ns7:MediaServiceGenerationTime" minOccurs="0"/>
                <xsd:element ref="ns7:MediaServiceEventHashCode" minOccurs="0"/>
                <xsd:element ref="ns7:MediaLengthInSeconds" minOccurs="0"/>
                <xsd:element ref="ns7:lcf76f155ced4ddcb4097134ff3c332f" minOccurs="0"/>
                <xsd:element ref="ns7:MediaServiceOCR" minOccurs="0"/>
                <xsd:element ref="ns7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d868ab-27c4-42e6-a139-83743541151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m975189f4ba442ecbf67d4147307b177" ma:index="13" nillable="true" ma:taxonomy="true" ma:internalName="m975189f4ba442ecbf67d4147307b177" ma:taxonomyFieldName="Business_x0020_Unit" ma:displayName="Business Unit" ma:default="1;#Domestic and International Markets (DIME)|613188b1-0126-4f05-98c7-e006f6c31fa1" ma:fieldId="{6975189f-4ba4-42ec-bf67-d4147307b177}" ma:sspId="07c4ed84-5fe0-43ce-92b1-d76889ed7488" ma:termSetId="6f71e40e-3a2e-4baf-91d9-2069eb35453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4" nillable="true" ma:displayName="Taxonomy Catch All Column" ma:hidden="true" ma:list="{33adbd3e-3551-4955-b519-8089a9efdc18}" ma:internalName="TaxCatchAll" ma:showField="CatchAllData" ma:web="a9d868ab-27c4-42e6-a139-8374354115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5" nillable="true" ma:displayName="Taxonomy Catch All Column1" ma:hidden="true" ma:list="{33adbd3e-3551-4955-b519-8089a9efdc18}" ma:internalName="TaxCatchAllLabel" ma:readOnly="true" ma:showField="CatchAllDataLabel" ma:web="a9d868ab-27c4-42e6-a139-8374354115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63f72e-ace3-48fb-9c1f-5b513408b31f" elementFormDefault="qualified">
    <xsd:import namespace="http://schemas.microsoft.com/office/2006/documentManagement/types"/>
    <xsd:import namespace="http://schemas.microsoft.com/office/infopath/2007/PartnerControls"/>
    <xsd:element name="Security_x0020_Classification" ma:index="11" nillable="true" ma:displayName="Security Classification" ma:default="OFFICIAL" ma:format="Dropdown" ma:indexed="true" ma:internalName="Security_x0020_Classification">
      <xsd:simpleType>
        <xsd:restriction base="dms:Choice">
          <xsd:enumeration value="OFFICIAL"/>
          <xsd:enumeration value="OFFICIAL - SENSITIVE"/>
        </xsd:restriction>
      </xsd:simpleType>
    </xsd:element>
    <xsd:element name="Descriptor" ma:index="12" nillable="true" ma:displayName="Descriptor" ma:default="" ma:format="Dropdown" ma:indexed="true" ma:internalName="Descriptor">
      <xsd:simpleType>
        <xsd:restriction base="dms:Choice">
          <xsd:enumeration value="COMMERCIAL"/>
          <xsd:enumeration value="PERSONAL"/>
          <xsd:enumeration value="LOCSE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3c3fd-5a3b-4239-b985-69032e371c04" elementFormDefault="qualified">
    <xsd:import namespace="http://schemas.microsoft.com/office/2006/documentManagement/types"/>
    <xsd:import namespace="http://schemas.microsoft.com/office/infopath/2007/PartnerControls"/>
    <xsd:element name="Government_x0020_Body" ma:index="17" nillable="true" ma:displayName="Government Body" ma:default="DIT" ma:internalName="Government_x0020_Body">
      <xsd:simpleType>
        <xsd:restriction base="dms:Text">
          <xsd:maxLength value="255"/>
        </xsd:restriction>
      </xsd:simpleType>
    </xsd:element>
    <xsd:element name="Date_x0020_Opened" ma:index="18" nillable="true" ma:displayName="Date Opened" ma:default="[Today]" ma:format="DateOnly" ma:internalName="Date_x0020_Opened">
      <xsd:simpleType>
        <xsd:restriction base="dms:DateTime"/>
      </xsd:simpleType>
    </xsd:element>
    <xsd:element name="Date_x0020_Closed" ma:index="19" nillable="true" ma:displayName="Date Closed" ma:format="DateOnly" ma:internalName="Date_x0020_Clos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60570-4bd3-4f2b-950b-a996de8ab151" elementFormDefault="qualified">
    <xsd:import namespace="http://schemas.microsoft.com/office/2006/documentManagement/types"/>
    <xsd:import namespace="http://schemas.microsoft.com/office/infopath/2007/PartnerControls"/>
    <xsd:element name="Retention_x0020_Label" ma:index="20" nillable="true" ma:displayName="Retention Label" ma:internalName="Retention_x0020_Label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cb922-5235-4a66-b188-303b9b46fbd7" elementFormDefault="qualified">
    <xsd:import namespace="http://schemas.microsoft.com/office/2006/documentManagement/types"/>
    <xsd:import namespace="http://schemas.microsoft.com/office/infopath/2007/PartnerControls"/>
    <xsd:element name="LegacyData" ma:index="21" nillable="true" ma:displayName="Legacy Data" ma:internalName="LegacyData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c1cc6-a2e9-4498-be86-8fd44533aa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1" nillable="true" ma:taxonomy="true" ma:internalName="lcf76f155ced4ddcb4097134ff3c332f" ma:taxonomyFieldName="MediaServiceImageTags" ma:displayName="Image Tags" ma:readOnly="false" ma:fieldId="{5cf76f15-5ced-4ddc-b409-7134ff3c332f}" ma:taxonomyMulti="true" ma:sspId="07c4ed84-5fe0-43ce-92b1-d76889ed74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241A01A-029D-45ED-9761-38FD37ADC3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2E1E5D-F2EA-4466-A0D9-663562148C31}">
  <ds:schemaRefs>
    <ds:schemaRef ds:uri="http://schemas.microsoft.com/office/2006/metadata/properties"/>
    <ds:schemaRef ds:uri="http://schemas.microsoft.com/office/infopath/2007/PartnerControls"/>
    <ds:schemaRef ds:uri="aaacb922-5235-4a66-b188-303b9b46fbd7"/>
    <ds:schemaRef ds:uri="a9d868ab-27c4-42e6-a139-837435411510"/>
    <ds:schemaRef ds:uri="831c1cc6-a2e9-4498-be86-8fd44533aaea"/>
    <ds:schemaRef ds:uri="a8f60570-4bd3-4f2b-950b-a996de8ab151"/>
    <ds:schemaRef ds:uri="b413c3fd-5a3b-4239-b985-69032e371c04"/>
    <ds:schemaRef ds:uri="0063f72e-ace3-48fb-9c1f-5b513408b31f"/>
  </ds:schemaRefs>
</ds:datastoreItem>
</file>

<file path=customXml/itemProps3.xml><?xml version="1.0" encoding="utf-8"?>
<ds:datastoreItem xmlns:ds="http://schemas.openxmlformats.org/officeDocument/2006/customXml" ds:itemID="{A1960E99-C945-40FC-B81C-84647D2351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d868ab-27c4-42e6-a139-837435411510"/>
    <ds:schemaRef ds:uri="0063f72e-ace3-48fb-9c1f-5b513408b31f"/>
    <ds:schemaRef ds:uri="b413c3fd-5a3b-4239-b985-69032e371c04"/>
    <ds:schemaRef ds:uri="a8f60570-4bd3-4f2b-950b-a996de8ab151"/>
    <ds:schemaRef ds:uri="aaacb922-5235-4a66-b188-303b9b46fbd7"/>
    <ds:schemaRef ds:uri="831c1cc6-a2e9-4498-be86-8fd44533aa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6F847E7-EB51-4F54-AAB5-68A1BAD7D800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149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Leal</dc:creator>
  <cp:lastModifiedBy>David Leal</cp:lastModifiedBy>
  <cp:revision>24</cp:revision>
  <dcterms:created xsi:type="dcterms:W3CDTF">2025-05-27T09:23:09Z</dcterms:created>
  <dcterms:modified xsi:type="dcterms:W3CDTF">2025-07-31T13:14:19Z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usiness Unit">
    <vt:lpwstr>1;#Domestic and International Markets and Exports|613188b1-0126-4f05-98c7-e006f6c31fa1</vt:lpwstr>
  </property>
  <property fmtid="{D5CDD505-2E9C-101B-9397-08002B2CF9AE}" pid="3" name="ContentTypeId">
    <vt:lpwstr>0x0101008C300B1772DCAD45A4E0B213DF0BCE68</vt:lpwstr>
  </property>
  <property fmtid="{D5CDD505-2E9C-101B-9397-08002B2CF9AE}" pid="4" name="_dlc_DocIdItemGuid">
    <vt:lpwstr>b6381591-a05e-4426-8e6a-59168468ed35</vt:lpwstr>
  </property>
  <property fmtid="{D5CDD505-2E9C-101B-9397-08002B2CF9AE}" pid="5" name="MediaServiceImageTags">
    <vt:lpwstr/>
  </property>
  <property fmtid="{D5CDD505-2E9C-101B-9397-08002B2CF9AE}" pid="6" name="Business_x0020_Unit">
    <vt:lpwstr>1;#Domestic and International Markets and Exports|613188b1-0126-4f05-98c7-e006f6c31fa1</vt:lpwstr>
  </property>
</Properties>
</file>